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33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ecosistema Komite: actores, canales y roles. Objetivo: que cualquier persona entienda quién usa qué y qué ve cada 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superficies conectadas a una API central y una base de datos multi-tenant. Cada empresa cliente conserva sus datos separados por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pública sin login. La usan visitantes y potenciales clientes. No muestra datos operativos ni información interna de comunidades.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app privada de la empresa administradora. La usan Project manager y Ejecutivo/a. No es el backoffice de Komite; cada empresa ve solo sus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móvil para comunidad y terreno. La usan Vecino, Comité, Supervisor y Conserje. Acceso por condominio; puede haber acceso a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interna de Komite como proveedor SaaS. Solo para empleados de Komite. Administra clientes, tenants, usuarios, soporte y catálogos globales.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comparativa: canal, usuario principal, si requiere login, qué ve y para qué se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tipos funcionales de usuario: público, empresa administradora, comunidad e interno Komite.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Portal Administrador usa perfiles simples: Project manager (gestión/coordinación) y Ejecutivo/a (operativo). No son roles de comunidad ni roles 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roles mobile son por condominio y definen la experiencia en la app: Vecino, Comité, Supervisor, Conserje.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qué canal usa cada usuario. Backoffice reservado a empleados Komite; Portal a project_manager/ejecutivo; mobile por accesos de condominio.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empresa administradora es un tenant. Condominios y usuarios pertenecen a una empresa; solo ven datos de su tenant. Komite administra a nivel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simplificado: login, la API valida credenciales y empresa, revisa perfil o carga condominios asignados, y la app muestra solo lo permitido.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mundos separados, roles simples, y arquitectura multi-tenant para que varias empresas usen la misma plataforma sin mezclar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canales separados, roles claros y visibilidad controlada — cada actor ve solo lo que necesita.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2540">
                  <a:alpha val="100000"/>
                </a:srgbClr>
              </a:gs>
              <a:gs pos="100000">
                <a:srgbClr val="0C4A9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876300" y="7810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383756"/>
            <a:ext cx="838200" cy="57150"/>
          </a:xfrm>
          <a:prstGeom prst="roundRect">
            <a:avLst>
              <a:gd name="adj" fmla="val 50000"/>
            </a:avLst>
          </a:prstGeom>
          <a:solidFill>
            <a:srgbClr val="E8641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64756"/>
            <a:ext cx="13244513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600" b="1" kern="0" spc="-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Komite: actores, canales y roles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914400" y="5798344"/>
            <a:ext cx="1128236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000" dirty="0">
                <a:solidFill>
                  <a:srgbClr val="B9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SaaS para administración, comunicación y gestión operativa de comunidades residenciales.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8991600"/>
            <a:ext cx="1983879" cy="5143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1009" y="9115425"/>
            <a:ext cx="18791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comercial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31629" y="8991600"/>
            <a:ext cx="2557694" cy="5143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5359" y="9115425"/>
            <a:ext cx="22964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Administrador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99522" y="8991600"/>
            <a:ext cx="1619994" cy="5143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9009" y="9115425"/>
            <a:ext cx="1381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52866" y="8991600"/>
            <a:ext cx="2399472" cy="5143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9474" y="9115425"/>
            <a:ext cx="20511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interno</a:t>
            </a:r>
            <a:endParaRPr lang="en-US" sz="18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268694F-D3A2-F3BD-49EF-BFC1E5A02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878" y="342900"/>
            <a:ext cx="2992728" cy="2992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3243" y="781050"/>
            <a:ext cx="897397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 del ecosistema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619250"/>
            <a:ext cx="1226343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superficies de producto conectadas a una misma API central y una base de datos multi-tenant.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800350"/>
            <a:ext cx="3943350" cy="2573387"/>
          </a:xfrm>
          <a:prstGeom prst="roundRect">
            <a:avLst>
              <a:gd name="adj" fmla="val 5922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5364212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800350"/>
            <a:ext cx="3943350" cy="57150"/>
          </a:xfrm>
          <a:prstGeom prst="rect">
            <a:avLst/>
          </a:prstGeom>
          <a:solidFill>
            <a:srgbClr val="E8641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9" name="Shape 7"/>
          <p:cNvSpPr/>
          <p:nvPr/>
        </p:nvSpPr>
        <p:spPr>
          <a:xfrm>
            <a:off x="4848225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1575" y="3143250"/>
            <a:ext cx="381000" cy="38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1575" y="3724275"/>
            <a:ext cx="3771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comercial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71575" y="4152900"/>
            <a:ext cx="3531870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Vitrina pública, sin login. Presenta el producto y capta leads.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86350" y="2800350"/>
            <a:ext cx="3943350" cy="2573387"/>
          </a:xfrm>
          <a:prstGeom prst="roundRect">
            <a:avLst>
              <a:gd name="adj" fmla="val 5922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86350" y="5364212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5" name="Shape 12"/>
          <p:cNvSpPr/>
          <p:nvPr/>
        </p:nvSpPr>
        <p:spPr>
          <a:xfrm>
            <a:off x="5086350" y="2800350"/>
            <a:ext cx="3943350" cy="57150"/>
          </a:xfrm>
          <a:prstGeom prst="rect">
            <a:avLst/>
          </a:prstGeom>
          <a:solidFill>
            <a:srgbClr val="0C4A9E"/>
          </a:solidFill>
          <a:ln/>
        </p:spPr>
      </p:sp>
      <p:sp>
        <p:nvSpPr>
          <p:cNvPr id="16" name="Shape 13"/>
          <p:cNvSpPr/>
          <p:nvPr/>
        </p:nvSpPr>
        <p:spPr>
          <a:xfrm>
            <a:off x="5086350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7" name="Shape 14"/>
          <p:cNvSpPr/>
          <p:nvPr/>
        </p:nvSpPr>
        <p:spPr>
          <a:xfrm>
            <a:off x="9020175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3525" y="3143250"/>
            <a:ext cx="381000" cy="381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3525" y="3724275"/>
            <a:ext cx="3771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Administrador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343525" y="4152900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privada de la empresa administradora cliente.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9258300" y="2800350"/>
            <a:ext cx="3943350" cy="2573387"/>
          </a:xfrm>
          <a:prstGeom prst="roundRect">
            <a:avLst>
              <a:gd name="adj" fmla="val 5922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258300" y="5364212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3" name="Shape 19"/>
          <p:cNvSpPr/>
          <p:nvPr/>
        </p:nvSpPr>
        <p:spPr>
          <a:xfrm>
            <a:off x="9258300" y="2800350"/>
            <a:ext cx="3943350" cy="57150"/>
          </a:xfrm>
          <a:prstGeom prst="rect">
            <a:avLst/>
          </a:prstGeom>
          <a:solidFill>
            <a:srgbClr val="0F8F86"/>
          </a:solidFill>
          <a:ln/>
        </p:spPr>
      </p:sp>
      <p:sp>
        <p:nvSpPr>
          <p:cNvPr id="24" name="Shape 20"/>
          <p:cNvSpPr/>
          <p:nvPr/>
        </p:nvSpPr>
        <p:spPr>
          <a:xfrm>
            <a:off x="9258300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5" name="Shape 21"/>
          <p:cNvSpPr/>
          <p:nvPr/>
        </p:nvSpPr>
        <p:spPr>
          <a:xfrm>
            <a:off x="13192125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5475" y="3143250"/>
            <a:ext cx="381000" cy="3810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515475" y="3724275"/>
            <a:ext cx="3771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9515475" y="4152900"/>
            <a:ext cx="3531870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operación en terreno, organizada por condominio.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3430250" y="2800350"/>
            <a:ext cx="3943350" cy="2573387"/>
          </a:xfrm>
          <a:prstGeom prst="roundRect">
            <a:avLst>
              <a:gd name="adj" fmla="val 5922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3430250" y="5364212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31" name="Shape 26"/>
          <p:cNvSpPr/>
          <p:nvPr/>
        </p:nvSpPr>
        <p:spPr>
          <a:xfrm>
            <a:off x="13430250" y="2800350"/>
            <a:ext cx="3943350" cy="57150"/>
          </a:xfrm>
          <a:prstGeom prst="rect">
            <a:avLst/>
          </a:prstGeom>
          <a:solidFill>
            <a:srgbClr val="3A527E"/>
          </a:solidFill>
          <a:ln/>
        </p:spPr>
      </p:sp>
      <p:sp>
        <p:nvSpPr>
          <p:cNvPr id="32" name="Shape 27"/>
          <p:cNvSpPr/>
          <p:nvPr/>
        </p:nvSpPr>
        <p:spPr>
          <a:xfrm>
            <a:off x="13430250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33" name="Shape 28"/>
          <p:cNvSpPr/>
          <p:nvPr/>
        </p:nvSpPr>
        <p:spPr>
          <a:xfrm>
            <a:off x="17364075" y="2800350"/>
            <a:ext cx="9525" cy="2573387"/>
          </a:xfrm>
          <a:prstGeom prst="rect">
            <a:avLst/>
          </a:prstGeom>
          <a:solidFill>
            <a:srgbClr val="DBE4EF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87425" y="3143250"/>
            <a:ext cx="381000" cy="3810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3687425" y="3724275"/>
            <a:ext cx="3771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Komite</a:t>
            </a:r>
            <a:endParaRPr lang="en-US" sz="2400" dirty="0"/>
          </a:p>
        </p:txBody>
      </p:sp>
      <p:sp>
        <p:nvSpPr>
          <p:cNvPr id="36" name="Text 30"/>
          <p:cNvSpPr/>
          <p:nvPr/>
        </p:nvSpPr>
        <p:spPr>
          <a:xfrm>
            <a:off x="13687425" y="4152900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interna del proveedor SaaS.</a:t>
            </a:r>
            <a:endParaRPr lang="en-US" sz="18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3500" y="5507087"/>
            <a:ext cx="381000" cy="3810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14400" y="6021437"/>
            <a:ext cx="8115300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0C4A9E">
                  <a:alpha val="100000"/>
                </a:srgbClr>
              </a:gs>
              <a:gs pos="100000">
                <a:srgbClr val="0A3572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9" name="Text 32"/>
          <p:cNvSpPr/>
          <p:nvPr/>
        </p:nvSpPr>
        <p:spPr>
          <a:xfrm>
            <a:off x="1238250" y="6307187"/>
            <a:ext cx="147979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central</a:t>
            </a:r>
            <a:endParaRPr lang="en-US" sz="2400" dirty="0"/>
          </a:p>
        </p:txBody>
      </p:sp>
      <p:sp>
        <p:nvSpPr>
          <p:cNvPr id="40" name="Text 33"/>
          <p:cNvSpPr/>
          <p:nvPr/>
        </p:nvSpPr>
        <p:spPr>
          <a:xfrm>
            <a:off x="2832348" y="6345287"/>
            <a:ext cx="604970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9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único de acceso y validación de todas las superficies.</a:t>
            </a:r>
            <a:endParaRPr lang="en-US" sz="1800" dirty="0"/>
          </a:p>
        </p:txBody>
      </p:sp>
      <p:sp>
        <p:nvSpPr>
          <p:cNvPr id="41" name="Shape 34"/>
          <p:cNvSpPr/>
          <p:nvPr/>
        </p:nvSpPr>
        <p:spPr>
          <a:xfrm>
            <a:off x="9258300" y="6021437"/>
            <a:ext cx="8115300" cy="1276350"/>
          </a:xfrm>
          <a:prstGeom prst="roundRect">
            <a:avLst>
              <a:gd name="adj" fmla="val 11940"/>
            </a:avLst>
          </a:prstGeom>
          <a:solidFill>
            <a:srgbClr val="0A2540"/>
          </a:solidFill>
          <a:ln/>
        </p:spPr>
      </p:sp>
      <p:sp>
        <p:nvSpPr>
          <p:cNvPr id="42" name="Text 35"/>
          <p:cNvSpPr/>
          <p:nvPr/>
        </p:nvSpPr>
        <p:spPr>
          <a:xfrm>
            <a:off x="9582150" y="6307187"/>
            <a:ext cx="180796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multi-tenant</a:t>
            </a:r>
            <a:endParaRPr lang="en-US" sz="2400" dirty="0"/>
          </a:p>
        </p:txBody>
      </p:sp>
      <p:sp>
        <p:nvSpPr>
          <p:cNvPr id="43" name="Text 36"/>
          <p:cNvSpPr/>
          <p:nvPr/>
        </p:nvSpPr>
        <p:spPr>
          <a:xfrm>
            <a:off x="11504414" y="6345287"/>
            <a:ext cx="571169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9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empresa cliente conserva sus datos separados por tenant.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715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D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110490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5450" y="781050"/>
            <a:ext cx="21855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01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95450" y="1047750"/>
            <a:ext cx="447061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comercial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914400" y="1981200"/>
            <a:ext cx="117729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web pública de Komite: presenta el producto, su propuesta de valor y capta leads. </a:t>
            </a:r>
            <a:r>
              <a:rPr lang="en-US" sz="2400" b="1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login </a:t>
            </a:r>
            <a:r>
              <a:rPr lang="en-US" sz="24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sin datos operativos.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14400" y="3219450"/>
            <a:ext cx="8640663" cy="6286500"/>
          </a:xfrm>
          <a:prstGeom prst="roundRect">
            <a:avLst>
              <a:gd name="adj" fmla="val 2727"/>
            </a:avLst>
          </a:prstGeom>
          <a:solidFill>
            <a:srgbClr val="F4F7FB"/>
          </a:solidFill>
          <a:ln/>
        </p:spPr>
      </p:sp>
      <p:sp>
        <p:nvSpPr>
          <p:cNvPr id="8" name="Text 5"/>
          <p:cNvSpPr/>
          <p:nvPr/>
        </p:nvSpPr>
        <p:spPr>
          <a:xfrm>
            <a:off x="1276350" y="3581400"/>
            <a:ext cx="8708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principal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76350" y="42862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8641C"/>
          </a:solidFill>
          <a:ln/>
        </p:spPr>
      </p:sp>
      <p:sp>
        <p:nvSpPr>
          <p:cNvPr id="10" name="Text 7"/>
          <p:cNvSpPr/>
          <p:nvPr/>
        </p:nvSpPr>
        <p:spPr>
          <a:xfrm>
            <a:off x="1543050" y="4162425"/>
            <a:ext cx="49975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Komite y su propuesta de valor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1276350" y="48387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8641C"/>
          </a:solidFill>
          <a:ln/>
        </p:spPr>
      </p:sp>
      <p:sp>
        <p:nvSpPr>
          <p:cNvPr id="12" name="Text 9"/>
          <p:cNvSpPr/>
          <p:nvPr/>
        </p:nvSpPr>
        <p:spPr>
          <a:xfrm>
            <a:off x="1543050" y="4714875"/>
            <a:ext cx="48244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beneficios y funcionalidades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276350" y="53911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8641C"/>
          </a:solidFill>
          <a:ln/>
        </p:spPr>
      </p:sp>
      <p:sp>
        <p:nvSpPr>
          <p:cNvPr id="14" name="Text 11"/>
          <p:cNvSpPr/>
          <p:nvPr/>
        </p:nvSpPr>
        <p:spPr>
          <a:xfrm>
            <a:off x="1543050" y="5267325"/>
            <a:ext cx="38758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información comercial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276350" y="59436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8641C"/>
          </a:solidFill>
          <a:ln/>
        </p:spPr>
      </p:sp>
      <p:sp>
        <p:nvSpPr>
          <p:cNvPr id="16" name="Text 13"/>
          <p:cNvSpPr/>
          <p:nvPr/>
        </p:nvSpPr>
        <p:spPr>
          <a:xfrm>
            <a:off x="1543050" y="5819775"/>
            <a:ext cx="40240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Captar leads de nuevos clientes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859863" y="3219450"/>
            <a:ext cx="7513588" cy="4913114"/>
          </a:xfrm>
          <a:prstGeom prst="roundRect">
            <a:avLst>
              <a:gd name="adj" fmla="val 3490"/>
            </a:avLst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93238" y="3552825"/>
            <a:ext cx="753152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0193238" y="4114800"/>
            <a:ext cx="6846838" cy="495300"/>
          </a:xfrm>
          <a:prstGeom prst="roundRect">
            <a:avLst>
              <a:gd name="adj" fmla="val 50000"/>
            </a:avLst>
          </a:prstGeom>
          <a:solidFill>
            <a:srgbClr val="FDEEE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738" y="424815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726637" y="4229101"/>
            <a:ext cx="2062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 público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0193238" y="4743450"/>
            <a:ext cx="6846838" cy="495300"/>
          </a:xfrm>
          <a:prstGeom prst="roundRect">
            <a:avLst>
              <a:gd name="adj" fmla="val 50000"/>
            </a:avLst>
          </a:prstGeom>
          <a:solidFill>
            <a:srgbClr val="FDEEE3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3738" y="487680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726638" y="4857750"/>
            <a:ext cx="19606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cliente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10193238" y="5372100"/>
            <a:ext cx="6846838" cy="495300"/>
          </a:xfrm>
          <a:prstGeom prst="roundRect">
            <a:avLst>
              <a:gd name="adj" fmla="val 50000"/>
            </a:avLst>
          </a:prstGeom>
          <a:solidFill>
            <a:srgbClr val="FDEEE3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3738" y="550545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726638" y="5486400"/>
            <a:ext cx="297648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Administradora interesada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859863" y="8361164"/>
            <a:ext cx="7513588" cy="1144786"/>
          </a:xfrm>
          <a:prstGeom prst="roundRect">
            <a:avLst>
              <a:gd name="adj" fmla="val 14977"/>
            </a:avLst>
          </a:prstGeom>
          <a:solidFill>
            <a:srgbClr val="0A2540"/>
          </a:solidFill>
          <a:ln/>
        </p:spPr>
      </p:sp>
      <p:sp>
        <p:nvSpPr>
          <p:cNvPr id="29" name="Text 23"/>
          <p:cNvSpPr/>
          <p:nvPr/>
        </p:nvSpPr>
        <p:spPr>
          <a:xfrm>
            <a:off x="10145613" y="8608814"/>
            <a:ext cx="716749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requiere login. </a:t>
            </a:r>
            <a:r>
              <a:rPr lang="en-US" sz="1800" dirty="0">
                <a:solidFill>
                  <a:srgbClr val="FFFFFF"/>
                </a:solidFill>
                <a:highlight>
                  <a:srgbClr val="0A254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 expone datos operativos ni información interna de las comunidades.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715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3EC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110490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5450" y="781050"/>
            <a:ext cx="21855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02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95449" y="1047750"/>
            <a:ext cx="684324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Administrador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914400" y="1981200"/>
            <a:ext cx="1226343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privada de la empresa administradora cliente, orientada a operación diaria sobre su cartera de condominios.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14400" y="3200400"/>
            <a:ext cx="8640663" cy="6305550"/>
          </a:xfrm>
          <a:prstGeom prst="roundRect">
            <a:avLst>
              <a:gd name="adj" fmla="val 2719"/>
            </a:avLst>
          </a:prstGeom>
          <a:solidFill>
            <a:srgbClr val="F4F7FB"/>
          </a:solidFill>
          <a:ln/>
        </p:spPr>
      </p:sp>
      <p:sp>
        <p:nvSpPr>
          <p:cNvPr id="8" name="Text 5"/>
          <p:cNvSpPr/>
          <p:nvPr/>
        </p:nvSpPr>
        <p:spPr>
          <a:xfrm>
            <a:off x="1276350" y="3562350"/>
            <a:ext cx="8708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principal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76350" y="42672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C4A9E"/>
          </a:solidFill>
          <a:ln/>
        </p:spPr>
      </p:sp>
      <p:sp>
        <p:nvSpPr>
          <p:cNvPr id="10" name="Text 7"/>
          <p:cNvSpPr/>
          <p:nvPr/>
        </p:nvSpPr>
        <p:spPr>
          <a:xfrm>
            <a:off x="1543050" y="4143375"/>
            <a:ext cx="35962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la operación diaria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1276350" y="48006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C4A9E"/>
          </a:solidFill>
          <a:ln/>
        </p:spPr>
      </p:sp>
      <p:sp>
        <p:nvSpPr>
          <p:cNvPr id="12" name="Text 9"/>
          <p:cNvSpPr/>
          <p:nvPr/>
        </p:nvSpPr>
        <p:spPr>
          <a:xfrm>
            <a:off x="1543050" y="4676775"/>
            <a:ext cx="428499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condominios asociados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276350" y="5334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C4A9E"/>
          </a:solidFill>
          <a:ln/>
        </p:spPr>
      </p:sp>
      <p:sp>
        <p:nvSpPr>
          <p:cNvPr id="14" name="Text 11"/>
          <p:cNvSpPr/>
          <p:nvPr/>
        </p:nvSpPr>
        <p:spPr>
          <a:xfrm>
            <a:off x="1543050" y="5210175"/>
            <a:ext cx="29255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tareas y tickets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276350" y="5867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C4A9E"/>
          </a:solidFill>
          <a:ln/>
        </p:spPr>
      </p:sp>
      <p:sp>
        <p:nvSpPr>
          <p:cNvPr id="16" name="Text 13"/>
          <p:cNvSpPr/>
          <p:nvPr/>
        </p:nvSpPr>
        <p:spPr>
          <a:xfrm>
            <a:off x="1543050" y="5743575"/>
            <a:ext cx="54589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Coordinar supervisores y acciones internas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276350" y="6400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C4A9E"/>
          </a:solidFill>
          <a:ln/>
        </p:spPr>
      </p:sp>
      <p:sp>
        <p:nvSpPr>
          <p:cNvPr id="18" name="Text 15"/>
          <p:cNvSpPr/>
          <p:nvPr/>
        </p:nvSpPr>
        <p:spPr>
          <a:xfrm>
            <a:off x="1543050" y="6276975"/>
            <a:ext cx="60536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seguimiento a solicitudes y comunicaciones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859863" y="3200400"/>
            <a:ext cx="7513588" cy="4932164"/>
          </a:xfrm>
          <a:prstGeom prst="roundRect">
            <a:avLst>
              <a:gd name="adj" fmla="val 3476"/>
            </a:avLst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93238" y="3533775"/>
            <a:ext cx="753152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193238" y="4095750"/>
            <a:ext cx="6846838" cy="495300"/>
          </a:xfrm>
          <a:prstGeom prst="roundRect">
            <a:avLst>
              <a:gd name="adj" fmla="val 50000"/>
            </a:avLst>
          </a:prstGeom>
          <a:solidFill>
            <a:srgbClr val="E3ECF9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738" y="422910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726638" y="4210050"/>
            <a:ext cx="193329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193238" y="4724400"/>
            <a:ext cx="6846838" cy="495300"/>
          </a:xfrm>
          <a:prstGeom prst="roundRect">
            <a:avLst>
              <a:gd name="adj" fmla="val 50000"/>
            </a:avLst>
          </a:prstGeom>
          <a:solidFill>
            <a:srgbClr val="E3ECF9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3738" y="485775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726638" y="4838701"/>
            <a:ext cx="14696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Ejecutivo/a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10193238" y="5353050"/>
            <a:ext cx="6846838" cy="495300"/>
          </a:xfrm>
          <a:prstGeom prst="roundRect">
            <a:avLst>
              <a:gd name="adj" fmla="val 50000"/>
            </a:avLst>
          </a:prstGeom>
          <a:solidFill>
            <a:srgbClr val="E3ECF9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3738" y="54864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726638" y="5467350"/>
            <a:ext cx="24512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administrativo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859863" y="8361164"/>
            <a:ext cx="7513588" cy="1144786"/>
          </a:xfrm>
          <a:prstGeom prst="roundRect">
            <a:avLst>
              <a:gd name="adj" fmla="val 14977"/>
            </a:avLst>
          </a:prstGeom>
          <a:solidFill>
            <a:srgbClr val="0A2540"/>
          </a:solidFill>
          <a:ln/>
        </p:spPr>
      </p:sp>
      <p:sp>
        <p:nvSpPr>
          <p:cNvPr id="31" name="Text 25"/>
          <p:cNvSpPr/>
          <p:nvPr/>
        </p:nvSpPr>
        <p:spPr>
          <a:xfrm>
            <a:off x="10145613" y="8608814"/>
            <a:ext cx="716749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el backoffice de Komite. </a:t>
            </a:r>
            <a:r>
              <a:rPr lang="en-US" sz="1800" dirty="0">
                <a:solidFill>
                  <a:srgbClr val="FFFFFF"/>
                </a:solidFill>
                <a:highlight>
                  <a:srgbClr val="0A254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Cada empresa administradora ve únicamente sus propios datos.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715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0F2E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110490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5450" y="781050"/>
            <a:ext cx="21855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03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95450" y="1047750"/>
            <a:ext cx="363378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914400" y="1981200"/>
            <a:ext cx="1226343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 directa con la comunidad y la operación en terreno. El acceso se organiza </a:t>
            </a:r>
            <a:r>
              <a:rPr lang="en-US" sz="240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condominio </a:t>
            </a:r>
            <a:r>
              <a:rPr lang="en-US" sz="24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(uno, varios o "Todos").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14400" y="3181350"/>
            <a:ext cx="3957638" cy="6324600"/>
          </a:xfrm>
          <a:prstGeom prst="roundRect">
            <a:avLst>
              <a:gd name="adj" fmla="val 3851"/>
            </a:avLst>
          </a:prstGeom>
          <a:solidFill>
            <a:srgbClr val="F4F7F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050" y="3495675"/>
            <a:ext cx="247650" cy="2476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4950" y="3467100"/>
            <a:ext cx="87704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162050" y="3905250"/>
            <a:ext cx="3566208" cy="163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información de su comunidad, recibe comunicaciones y reporta o sigue incidencias según su alcance.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81588" y="3181350"/>
            <a:ext cx="3957638" cy="6324600"/>
          </a:xfrm>
          <a:prstGeom prst="roundRect">
            <a:avLst>
              <a:gd name="adj" fmla="val 3851"/>
            </a:avLst>
          </a:prstGeom>
          <a:solidFill>
            <a:srgbClr val="F4F7F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9238" y="3495675"/>
            <a:ext cx="247650" cy="2476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72138" y="3467100"/>
            <a:ext cx="92109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5329238" y="3905250"/>
            <a:ext cx="3566208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visibilidad de temas comunitarios; participa en seguimiento y comunicación con la administradora.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9248775" y="3181350"/>
            <a:ext cx="3957638" cy="6324600"/>
          </a:xfrm>
          <a:prstGeom prst="roundRect">
            <a:avLst>
              <a:gd name="adj" fmla="val 3851"/>
            </a:avLst>
          </a:prstGeom>
          <a:solidFill>
            <a:srgbClr val="F4F7F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96425" y="3495675"/>
            <a:ext cx="247650" cy="2476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39324" y="3467100"/>
            <a:ext cx="160079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9496425" y="3905250"/>
            <a:ext cx="3566208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operación en terreno: tareas, incidencias, inspecciones y estados operativos.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3415963" y="3181350"/>
            <a:ext cx="3957638" cy="6324600"/>
          </a:xfrm>
          <a:prstGeom prst="roundRect">
            <a:avLst>
              <a:gd name="adj" fmla="val 3851"/>
            </a:avLst>
          </a:prstGeom>
          <a:solidFill>
            <a:srgbClr val="F4F7F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63613" y="3495675"/>
            <a:ext cx="247650" cy="2476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006513" y="3467100"/>
            <a:ext cx="114359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Conserje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3663613" y="3905250"/>
            <a:ext cx="3566208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novedades, incidencias o eventos operativos desde terreno.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715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7EC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110490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5450" y="781050"/>
            <a:ext cx="21855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3A5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04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95450" y="1047750"/>
            <a:ext cx="847873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interno Komite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914400" y="1981200"/>
            <a:ext cx="1226343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interna del proveedor SaaS para administrar la plataforma. </a:t>
            </a:r>
            <a:r>
              <a:rPr lang="en-US" sz="2400" b="1" dirty="0">
                <a:solidFill>
                  <a:srgbClr val="3A5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empleados de Komite </a:t>
            </a:r>
            <a:r>
              <a:rPr lang="en-US" sz="24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para empresas clientes.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14400" y="3200400"/>
            <a:ext cx="8640663" cy="6305550"/>
          </a:xfrm>
          <a:prstGeom prst="roundRect">
            <a:avLst>
              <a:gd name="adj" fmla="val 2719"/>
            </a:avLst>
          </a:prstGeom>
          <a:solidFill>
            <a:srgbClr val="F4F7FB"/>
          </a:solidFill>
          <a:ln/>
        </p:spPr>
      </p:sp>
      <p:sp>
        <p:nvSpPr>
          <p:cNvPr id="8" name="Text 5"/>
          <p:cNvSpPr/>
          <p:nvPr/>
        </p:nvSpPr>
        <p:spPr>
          <a:xfrm>
            <a:off x="1276350" y="3562350"/>
            <a:ext cx="8708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principal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76350" y="4386263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A527E"/>
          </a:solidFill>
          <a:ln/>
        </p:spPr>
      </p:sp>
      <p:sp>
        <p:nvSpPr>
          <p:cNvPr id="10" name="Text 7"/>
          <p:cNvSpPr/>
          <p:nvPr/>
        </p:nvSpPr>
        <p:spPr>
          <a:xfrm>
            <a:off x="1514475" y="4124325"/>
            <a:ext cx="298354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gestionar empresas cliente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368082" y="4386263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A527E"/>
          </a:solidFill>
          <a:ln/>
        </p:spPr>
      </p:sp>
      <p:sp>
        <p:nvSpPr>
          <p:cNvPr id="12" name="Text 9"/>
          <p:cNvSpPr/>
          <p:nvPr/>
        </p:nvSpPr>
        <p:spPr>
          <a:xfrm>
            <a:off x="5606207" y="4281488"/>
            <a:ext cx="28478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gestionar usuarios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276350" y="5167313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A527E"/>
          </a:solidFill>
          <a:ln/>
        </p:spPr>
      </p:sp>
      <p:sp>
        <p:nvSpPr>
          <p:cNvPr id="14" name="Text 11"/>
          <p:cNvSpPr/>
          <p:nvPr/>
        </p:nvSpPr>
        <p:spPr>
          <a:xfrm>
            <a:off x="1514475" y="4905375"/>
            <a:ext cx="28379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condominios de clientes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368082" y="5167313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A527E"/>
          </a:solidFill>
          <a:ln/>
        </p:spPr>
      </p:sp>
      <p:sp>
        <p:nvSpPr>
          <p:cNvPr id="16" name="Text 13"/>
          <p:cNvSpPr/>
          <p:nvPr/>
        </p:nvSpPr>
        <p:spPr>
          <a:xfrm>
            <a:off x="5606207" y="5062538"/>
            <a:ext cx="28169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tickets de soporte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76350" y="57912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A527E"/>
          </a:solidFill>
          <a:ln/>
        </p:spPr>
      </p:sp>
      <p:sp>
        <p:nvSpPr>
          <p:cNvPr id="18" name="Text 15"/>
          <p:cNvSpPr/>
          <p:nvPr/>
        </p:nvSpPr>
        <p:spPr>
          <a:xfrm>
            <a:off x="1514475" y="5686425"/>
            <a:ext cx="33088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bancos y catálogos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368082" y="57912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A527E"/>
          </a:solidFill>
          <a:ln/>
        </p:spPr>
      </p:sp>
      <p:sp>
        <p:nvSpPr>
          <p:cNvPr id="20" name="Text 17"/>
          <p:cNvSpPr/>
          <p:nvPr/>
        </p:nvSpPr>
        <p:spPr>
          <a:xfrm>
            <a:off x="5606207" y="5686425"/>
            <a:ext cx="35821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parámetros generales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859863" y="3200400"/>
            <a:ext cx="7513588" cy="4922639"/>
          </a:xfrm>
          <a:prstGeom prst="roundRect">
            <a:avLst>
              <a:gd name="adj" fmla="val 3483"/>
            </a:avLst>
          </a:prstGeom>
          <a:ln w="9525">
            <a:solidFill>
              <a:srgbClr val="DBE4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74188" y="3514725"/>
            <a:ext cx="7573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174188" y="4057650"/>
            <a:ext cx="2744688" cy="476250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/>
        </p:spPr>
      </p:sp>
      <p:sp>
        <p:nvSpPr>
          <p:cNvPr id="24" name="Text 21"/>
          <p:cNvSpPr/>
          <p:nvPr/>
        </p:nvSpPr>
        <p:spPr>
          <a:xfrm>
            <a:off x="10364687" y="4162424"/>
            <a:ext cx="255418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3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interno Komite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2983272" y="4057650"/>
            <a:ext cx="2617292" cy="476250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/>
        </p:spPr>
      </p:sp>
      <p:sp>
        <p:nvSpPr>
          <p:cNvPr id="26" name="Text 23"/>
          <p:cNvSpPr/>
          <p:nvPr/>
        </p:nvSpPr>
        <p:spPr>
          <a:xfrm>
            <a:off x="13109377" y="4162425"/>
            <a:ext cx="24267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3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SaaS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174188" y="4648200"/>
            <a:ext cx="1956643" cy="476250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/>
        </p:spPr>
      </p:sp>
      <p:sp>
        <p:nvSpPr>
          <p:cNvPr id="28" name="Text 25"/>
          <p:cNvSpPr/>
          <p:nvPr/>
        </p:nvSpPr>
        <p:spPr>
          <a:xfrm>
            <a:off x="10287414" y="4752975"/>
            <a:ext cx="1766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3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Komite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2245132" y="4648200"/>
            <a:ext cx="2295116" cy="476250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/>
        </p:spPr>
      </p:sp>
      <p:sp>
        <p:nvSpPr>
          <p:cNvPr id="30" name="Text 27"/>
          <p:cNvSpPr/>
          <p:nvPr/>
        </p:nvSpPr>
        <p:spPr>
          <a:xfrm>
            <a:off x="12435632" y="4752975"/>
            <a:ext cx="20076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3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interna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9859863" y="8351639"/>
            <a:ext cx="7513588" cy="1154311"/>
          </a:xfrm>
          <a:prstGeom prst="roundRect">
            <a:avLst>
              <a:gd name="adj" fmla="val 14853"/>
            </a:avLst>
          </a:prstGeom>
          <a:solidFill>
            <a:srgbClr val="0A2540"/>
          </a:solidFill>
          <a:ln/>
        </p:spPr>
      </p:sp>
      <p:sp>
        <p:nvSpPr>
          <p:cNvPr id="32" name="Text 29"/>
          <p:cNvSpPr/>
          <p:nvPr/>
        </p:nvSpPr>
        <p:spPr>
          <a:xfrm>
            <a:off x="10145613" y="8599289"/>
            <a:ext cx="7167496" cy="697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0A254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Acceso restringido a </a:t>
            </a:r>
            <a:r>
              <a:rPr lang="en-US" sz="1800" b="1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activos que pertenecen a la empresa Komite.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3243" y="781050"/>
            <a:ext cx="963979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canales y usuarios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581150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vista comparativa de las cuatro superficies.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324100"/>
            <a:ext cx="16459200" cy="7181850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285750" dist="95250" dir="5400000" algn="bl" rotWithShape="0">
              <a:srgbClr val="0A254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2500" y="2333625"/>
            <a:ext cx="16411575" cy="7239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562225"/>
            <a:ext cx="21209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95117" y="2562225"/>
            <a:ext cx="38084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principal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98457" y="2562225"/>
            <a:ext cx="711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28956" y="2562225"/>
            <a:ext cx="50802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462224" y="2562225"/>
            <a:ext cx="27117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se usa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4689872"/>
            <a:ext cx="16411575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3057525"/>
            <a:ext cx="57150" cy="1641872"/>
          </a:xfrm>
          <a:prstGeom prst="rect">
            <a:avLst/>
          </a:prstGeom>
          <a:solidFill>
            <a:srgbClr val="E864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3286125"/>
            <a:ext cx="2063788" cy="1222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comercial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5117" y="3286125"/>
            <a:ext cx="3808483" cy="1222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 y potenciales clientes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36557" y="3699867"/>
            <a:ext cx="635198" cy="371475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8069907" y="3757017"/>
            <a:ext cx="3684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28956" y="3286125"/>
            <a:ext cx="5080202" cy="1222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pública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62224" y="3286125"/>
            <a:ext cx="2711729" cy="1222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y presentación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4699397"/>
            <a:ext cx="16411575" cy="1505694"/>
          </a:xfrm>
          <a:prstGeom prst="rect">
            <a:avLst/>
          </a:prstGeom>
          <a:solidFill>
            <a:srgbClr val="FAFCFE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6195566"/>
            <a:ext cx="16411575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4699397"/>
            <a:ext cx="57150" cy="1505694"/>
          </a:xfrm>
          <a:prstGeom prst="rect">
            <a:avLst/>
          </a:prstGeom>
          <a:solidFill>
            <a:srgbClr val="0C4A9E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4927997"/>
            <a:ext cx="2063788" cy="1086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Administrador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95117" y="4927997"/>
            <a:ext cx="3808483" cy="1086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y Ejecutivo/a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974657" y="5275957"/>
            <a:ext cx="558998" cy="3714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6" name="Text 24"/>
          <p:cNvSpPr/>
          <p:nvPr/>
        </p:nvSpPr>
        <p:spPr>
          <a:xfrm>
            <a:off x="8108007" y="5333107"/>
            <a:ext cx="2922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28956" y="4927997"/>
            <a:ext cx="5080202" cy="1086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su empresa / tenant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462224" y="4927997"/>
            <a:ext cx="2711729" cy="1086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operativa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" y="7844582"/>
            <a:ext cx="16411575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30" name="Shape 28"/>
          <p:cNvSpPr/>
          <p:nvPr/>
        </p:nvSpPr>
        <p:spPr>
          <a:xfrm>
            <a:off x="952500" y="6205091"/>
            <a:ext cx="57150" cy="1649016"/>
          </a:xfrm>
          <a:prstGeom prst="rect">
            <a:avLst/>
          </a:prstGeom>
          <a:solidFill>
            <a:srgbClr val="0F8F86"/>
          </a:solidFill>
          <a:ln/>
        </p:spPr>
      </p:sp>
      <p:sp>
        <p:nvSpPr>
          <p:cNvPr id="31" name="Text 29"/>
          <p:cNvSpPr/>
          <p:nvPr/>
        </p:nvSpPr>
        <p:spPr>
          <a:xfrm>
            <a:off x="1295400" y="6433691"/>
            <a:ext cx="2063788" cy="1229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95117" y="6433691"/>
            <a:ext cx="3808483" cy="1229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Vecino, Comité, Supervisor, Conserje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974657" y="6853386"/>
            <a:ext cx="558998" cy="3714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34" name="Text 32"/>
          <p:cNvSpPr/>
          <p:nvPr/>
        </p:nvSpPr>
        <p:spPr>
          <a:xfrm>
            <a:off x="8108007" y="6910536"/>
            <a:ext cx="2922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28956" y="6433691"/>
            <a:ext cx="5080202" cy="1229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Condominios asignados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462224" y="6433691"/>
            <a:ext cx="2711729" cy="1229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terreno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52500" y="7854107"/>
            <a:ext cx="16411575" cy="1642318"/>
          </a:xfrm>
          <a:prstGeom prst="rect">
            <a:avLst/>
          </a:prstGeom>
          <a:solidFill>
            <a:srgbClr val="FAFCFE"/>
          </a:solidFill>
          <a:ln/>
        </p:spPr>
      </p:sp>
      <p:sp>
        <p:nvSpPr>
          <p:cNvPr id="38" name="Shape 36"/>
          <p:cNvSpPr/>
          <p:nvPr/>
        </p:nvSpPr>
        <p:spPr>
          <a:xfrm>
            <a:off x="952500" y="7854107"/>
            <a:ext cx="57150" cy="1642318"/>
          </a:xfrm>
          <a:prstGeom prst="rect">
            <a:avLst/>
          </a:prstGeom>
          <a:solidFill>
            <a:srgbClr val="3A527E"/>
          </a:solidFill>
          <a:ln/>
        </p:spPr>
      </p:sp>
      <p:sp>
        <p:nvSpPr>
          <p:cNvPr id="39" name="Text 37"/>
          <p:cNvSpPr/>
          <p:nvPr/>
        </p:nvSpPr>
        <p:spPr>
          <a:xfrm>
            <a:off x="1295400" y="8082707"/>
            <a:ext cx="2063788" cy="1223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5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Komite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795117" y="8082707"/>
            <a:ext cx="3808483" cy="1223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Komite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974657" y="8501360"/>
            <a:ext cx="558998" cy="3714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42" name="Text 40"/>
          <p:cNvSpPr/>
          <p:nvPr/>
        </p:nvSpPr>
        <p:spPr>
          <a:xfrm>
            <a:off x="8108007" y="8558510"/>
            <a:ext cx="2922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028956" y="8082707"/>
            <a:ext cx="5080202" cy="1223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tenants (según administración interna)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462224" y="8082707"/>
            <a:ext cx="2711729" cy="1223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SaaS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3242" y="781050"/>
            <a:ext cx="604650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usuario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581150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perfiles funcionales, según a qué mundo pertenecen.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9496425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62200"/>
            <a:ext cx="3943350" cy="57150"/>
          </a:xfrm>
          <a:prstGeom prst="rect">
            <a:avLst/>
          </a:prstGeom>
          <a:solidFill>
            <a:srgbClr val="E8641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8" name="Shape 6"/>
          <p:cNvSpPr/>
          <p:nvPr/>
        </p:nvSpPr>
        <p:spPr>
          <a:xfrm>
            <a:off x="4848225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2724150"/>
            <a:ext cx="37299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641C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90625" y="3314700"/>
            <a:ext cx="37299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público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90625" y="3771900"/>
            <a:ext cx="349262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cuenta. Solo usa la web comercial.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86350" y="9496425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86350" y="2362200"/>
            <a:ext cx="3943350" cy="57150"/>
          </a:xfrm>
          <a:prstGeom prst="rect">
            <a:avLst/>
          </a:prstGeom>
          <a:solidFill>
            <a:srgbClr val="0C4A9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86350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5" name="Shape 13"/>
          <p:cNvSpPr/>
          <p:nvPr/>
        </p:nvSpPr>
        <p:spPr>
          <a:xfrm>
            <a:off x="9020175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6" name="Text 14"/>
          <p:cNvSpPr/>
          <p:nvPr/>
        </p:nvSpPr>
        <p:spPr>
          <a:xfrm>
            <a:off x="5362575" y="2724150"/>
            <a:ext cx="37299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C4A9E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5362575" y="3314700"/>
            <a:ext cx="37299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administradora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362575" y="3771900"/>
            <a:ext cx="349262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al Portal Administrador si tiene perfil habilitado; puede tener accesos mobile.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58300" y="9496425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8300" y="2362200"/>
            <a:ext cx="3943350" cy="57150"/>
          </a:xfrm>
          <a:prstGeom prst="rect">
            <a:avLst/>
          </a:prstGeom>
          <a:solidFill>
            <a:srgbClr val="0F8F8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58300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2" name="Shape 20"/>
          <p:cNvSpPr/>
          <p:nvPr/>
        </p:nvSpPr>
        <p:spPr>
          <a:xfrm>
            <a:off x="13192125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3" name="Text 21"/>
          <p:cNvSpPr/>
          <p:nvPr/>
        </p:nvSpPr>
        <p:spPr>
          <a:xfrm>
            <a:off x="9534525" y="2724150"/>
            <a:ext cx="37299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F8F86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534525" y="3314700"/>
            <a:ext cx="37299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de comunidad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534525" y="3771900"/>
            <a:ext cx="349262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Accede desde la app mobile. Su visibilidad depende del condominio y rol asignado.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430250" y="9496425"/>
            <a:ext cx="39433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7" name="Shape 25"/>
          <p:cNvSpPr/>
          <p:nvPr/>
        </p:nvSpPr>
        <p:spPr>
          <a:xfrm>
            <a:off x="13430250" y="2362200"/>
            <a:ext cx="3943350" cy="57150"/>
          </a:xfrm>
          <a:prstGeom prst="rect">
            <a:avLst/>
          </a:prstGeom>
          <a:solidFill>
            <a:srgbClr val="3A527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30250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9" name="Shape 27"/>
          <p:cNvSpPr/>
          <p:nvPr/>
        </p:nvSpPr>
        <p:spPr>
          <a:xfrm>
            <a:off x="17364075" y="2362200"/>
            <a:ext cx="9525" cy="71437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30" name="Text 28"/>
          <p:cNvSpPr/>
          <p:nvPr/>
        </p:nvSpPr>
        <p:spPr>
          <a:xfrm>
            <a:off x="13706475" y="2724150"/>
            <a:ext cx="37299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A527E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13706475" y="3314700"/>
            <a:ext cx="37299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 Komite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3706475" y="3771900"/>
            <a:ext cx="349262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al backoffice. Gestiona configuración, clientes y soporte de la plataforma.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3242" y="781050"/>
            <a:ext cx="1094047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del Portal Administrador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581150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perfiles simples para la web app administrativa.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324100"/>
            <a:ext cx="8096250" cy="6181725"/>
          </a:xfrm>
          <a:prstGeom prst="roundRect">
            <a:avLst>
              <a:gd name="adj" fmla="val 2773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228600" dist="7620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4925" y="27146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0C4A9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750" y="2838450"/>
            <a:ext cx="285750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90725" y="2781300"/>
            <a:ext cx="271088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304925" y="3457575"/>
            <a:ext cx="80467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gestión y coordinación.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304925" y="4100513"/>
            <a:ext cx="95250" cy="95250"/>
          </a:xfrm>
          <a:prstGeom prst="roundRect">
            <a:avLst>
              <a:gd name="adj" fmla="val 30000"/>
            </a:avLst>
          </a:prstGeom>
          <a:solidFill>
            <a:srgbClr val="0C4A9E"/>
          </a:solidFill>
          <a:ln/>
        </p:spPr>
      </p:sp>
      <p:sp>
        <p:nvSpPr>
          <p:cNvPr id="11" name="Text 8"/>
          <p:cNvSpPr/>
          <p:nvPr/>
        </p:nvSpPr>
        <p:spPr>
          <a:xfrm>
            <a:off x="1533525" y="3990975"/>
            <a:ext cx="46867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Supervisa la operación de la administradora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304925" y="4529138"/>
            <a:ext cx="95250" cy="95250"/>
          </a:xfrm>
          <a:prstGeom prst="roundRect">
            <a:avLst>
              <a:gd name="adj" fmla="val 30000"/>
            </a:avLst>
          </a:prstGeom>
          <a:solidFill>
            <a:srgbClr val="0C4A9E"/>
          </a:solidFill>
          <a:ln/>
        </p:spPr>
      </p:sp>
      <p:sp>
        <p:nvSpPr>
          <p:cNvPr id="13" name="Text 10"/>
          <p:cNvSpPr/>
          <p:nvPr/>
        </p:nvSpPr>
        <p:spPr>
          <a:xfrm>
            <a:off x="1533525" y="4419600"/>
            <a:ext cx="40020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 tareas y revisa seguimiento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04925" y="4957763"/>
            <a:ext cx="95250" cy="95250"/>
          </a:xfrm>
          <a:prstGeom prst="roundRect">
            <a:avLst>
              <a:gd name="adj" fmla="val 30000"/>
            </a:avLst>
          </a:prstGeom>
          <a:solidFill>
            <a:srgbClr val="0C4A9E"/>
          </a:solidFill>
          <a:ln/>
        </p:spPr>
      </p:sp>
      <p:sp>
        <p:nvSpPr>
          <p:cNvPr id="15" name="Text 12"/>
          <p:cNvSpPr/>
          <p:nvPr/>
        </p:nvSpPr>
        <p:spPr>
          <a:xfrm>
            <a:off x="1533525" y="4848225"/>
            <a:ext cx="41481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indicadores con visión global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277350" y="2324100"/>
            <a:ext cx="8096250" cy="6181725"/>
          </a:xfrm>
          <a:prstGeom prst="roundRect">
            <a:avLst>
              <a:gd name="adj" fmla="val 2773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228600" dist="7620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667875" y="27146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5A82C4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1700" y="2838450"/>
            <a:ext cx="285750" cy="2857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353675" y="2781300"/>
            <a:ext cx="224186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Ejecutivo/a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9667875" y="3457575"/>
            <a:ext cx="80467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operativo administrativo.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9667875" y="4100513"/>
            <a:ext cx="95250" cy="95250"/>
          </a:xfrm>
          <a:prstGeom prst="roundRect">
            <a:avLst>
              <a:gd name="adj" fmla="val 30000"/>
            </a:avLst>
          </a:prstGeom>
          <a:solidFill>
            <a:srgbClr val="5A82C4"/>
          </a:solidFill>
          <a:ln/>
        </p:spPr>
      </p:sp>
      <p:sp>
        <p:nvSpPr>
          <p:cNvPr id="22" name="Text 18"/>
          <p:cNvSpPr/>
          <p:nvPr/>
        </p:nvSpPr>
        <p:spPr>
          <a:xfrm>
            <a:off x="9896475" y="3990975"/>
            <a:ext cx="388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consultas, tareas y tickets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9667875" y="4529138"/>
            <a:ext cx="95250" cy="95250"/>
          </a:xfrm>
          <a:prstGeom prst="roundRect">
            <a:avLst>
              <a:gd name="adj" fmla="val 30000"/>
            </a:avLst>
          </a:prstGeom>
          <a:solidFill>
            <a:srgbClr val="5A82C4"/>
          </a:solidFill>
          <a:ln/>
        </p:spPr>
      </p:sp>
      <p:sp>
        <p:nvSpPr>
          <p:cNvPr id="24" name="Text 20"/>
          <p:cNvSpPr/>
          <p:nvPr/>
        </p:nvSpPr>
        <p:spPr>
          <a:xfrm>
            <a:off x="9896475" y="4419600"/>
            <a:ext cx="23485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seguimiento diario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9667875" y="4957763"/>
            <a:ext cx="95250" cy="95250"/>
          </a:xfrm>
          <a:prstGeom prst="roundRect">
            <a:avLst>
              <a:gd name="adj" fmla="val 30000"/>
            </a:avLst>
          </a:prstGeom>
          <a:solidFill>
            <a:srgbClr val="5A82C4"/>
          </a:solidFill>
          <a:ln/>
        </p:spPr>
      </p:sp>
      <p:sp>
        <p:nvSpPr>
          <p:cNvPr id="26" name="Text 22"/>
          <p:cNvSpPr/>
          <p:nvPr/>
        </p:nvSpPr>
        <p:spPr>
          <a:xfrm>
            <a:off x="9896475" y="4848225"/>
            <a:ext cx="429910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sobre la cartera de condominios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914400" y="8772525"/>
            <a:ext cx="16459200" cy="733425"/>
          </a:xfrm>
          <a:prstGeom prst="roundRect">
            <a:avLst>
              <a:gd name="adj" fmla="val 15584"/>
            </a:avLst>
          </a:prstGeom>
          <a:solidFill>
            <a:srgbClr val="EEF3FA"/>
          </a:solidFill>
          <a:ln/>
        </p:spPr>
      </p:sp>
      <p:sp>
        <p:nvSpPr>
          <p:cNvPr id="28" name="Shape 24"/>
          <p:cNvSpPr/>
          <p:nvPr/>
        </p:nvSpPr>
        <p:spPr>
          <a:xfrm>
            <a:off x="914400" y="8772525"/>
            <a:ext cx="57150" cy="733425"/>
          </a:xfrm>
          <a:prstGeom prst="rect">
            <a:avLst/>
          </a:prstGeom>
          <a:solidFill>
            <a:srgbClr val="0C4A9E"/>
          </a:solidFill>
          <a:ln/>
        </p:spPr>
      </p:sp>
      <p:sp>
        <p:nvSpPr>
          <p:cNvPr id="29" name="Text 25"/>
          <p:cNvSpPr/>
          <p:nvPr/>
        </p:nvSpPr>
        <p:spPr>
          <a:xfrm>
            <a:off x="1238250" y="8982075"/>
            <a:ext cx="16362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highlight>
                  <a:srgbClr val="EEF3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Aplican a la web app administrativa.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roles de comunidad </a:t>
            </a:r>
            <a:r>
              <a:rPr lang="en-US" sz="1800" dirty="0">
                <a:solidFill>
                  <a:srgbClr val="122238"/>
                </a:solidFill>
                <a:highlight>
                  <a:srgbClr val="EEF3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ni deben confundirse con los roles mobile.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3243" y="781050"/>
            <a:ext cx="688257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 la app mobile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581150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</a:t>
            </a:r>
            <a:r>
              <a:rPr lang="en-US" sz="210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condominio </a:t>
            </a: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definen qué experiencia ve el usuario.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8124825" cy="350520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5717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2E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2550" y="2686050"/>
            <a:ext cx="26670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4050" y="2571750"/>
            <a:ext cx="74704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924050" y="3000375"/>
            <a:ext cx="69950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Residente o propietario. Ve información y servicios asociados a su comunidad y unidad.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48775" y="2286000"/>
            <a:ext cx="8124825" cy="350520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9572625" y="25717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2E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6925" y="2686050"/>
            <a:ext cx="266700" cy="266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58425" y="2571750"/>
            <a:ext cx="74704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258425" y="3000375"/>
            <a:ext cx="69950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 del comité de administración. Mayor visibilidad y participa en seguimiento y comunicación.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14400" y="6000750"/>
            <a:ext cx="8124825" cy="350520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/>
        </p:spPr>
      </p:sp>
      <p:sp>
        <p:nvSpPr>
          <p:cNvPr id="16" name="Shape 12"/>
          <p:cNvSpPr/>
          <p:nvPr/>
        </p:nvSpPr>
        <p:spPr>
          <a:xfrm>
            <a:off x="1238250" y="62865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2E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2550" y="6400800"/>
            <a:ext cx="266700" cy="2667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4050" y="6286500"/>
            <a:ext cx="74704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1924050" y="6715125"/>
            <a:ext cx="69950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empresa administradora. Operación en terreno; accede a varios condominios o a todos los de su empresa.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9248775" y="6000750"/>
            <a:ext cx="8124825" cy="350520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/>
        </p:spPr>
      </p:sp>
      <p:sp>
        <p:nvSpPr>
          <p:cNvPr id="21" name="Shape 16"/>
          <p:cNvSpPr/>
          <p:nvPr/>
        </p:nvSpPr>
        <p:spPr>
          <a:xfrm>
            <a:off x="9572625" y="62865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2E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6925" y="6400800"/>
            <a:ext cx="266700" cy="2667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58425" y="6286500"/>
            <a:ext cx="74704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Conserje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0258425" y="6715125"/>
            <a:ext cx="69950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operativo de terreno o conserjería. Registra eventos, novedades e incidencias según su alcance.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775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06277" y="781050"/>
            <a:ext cx="9457417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visibilidad por usuario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581150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superficie puede usar cada tipo de usuario.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238979"/>
            <a:ext cx="16459200" cy="5219700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285750" dist="95250" dir="5400000" algn="bl" rotWithShape="0">
              <a:srgbClr val="0A254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925" y="2238375"/>
            <a:ext cx="16440150" cy="638175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2428875"/>
            <a:ext cx="37914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5187879" y="2428875"/>
            <a:ext cx="31521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comercial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8473905" y="2428875"/>
            <a:ext cx="28932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Admin.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1497684" y="2428875"/>
            <a:ext cx="33811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5016758" y="2428875"/>
            <a:ext cx="22711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23925" y="3433763"/>
            <a:ext cx="164401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3" name="Text 11"/>
          <p:cNvSpPr/>
          <p:nvPr/>
        </p:nvSpPr>
        <p:spPr>
          <a:xfrm>
            <a:off x="1190625" y="3028950"/>
            <a:ext cx="37914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 público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6507956" y="29956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5" name="Text 13"/>
          <p:cNvSpPr/>
          <p:nvPr/>
        </p:nvSpPr>
        <p:spPr>
          <a:xfrm>
            <a:off x="6634765" y="30432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627989" y="29956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9751144" y="3043238"/>
            <a:ext cx="4617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2895808" y="2995612"/>
            <a:ext cx="754522" cy="352425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19" name="Text 17"/>
          <p:cNvSpPr/>
          <p:nvPr/>
        </p:nvSpPr>
        <p:spPr>
          <a:xfrm>
            <a:off x="13018963" y="3043238"/>
            <a:ext cx="4251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5859869" y="29956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21" name="Text 19"/>
          <p:cNvSpPr/>
          <p:nvPr/>
        </p:nvSpPr>
        <p:spPr>
          <a:xfrm>
            <a:off x="15983024" y="3043238"/>
            <a:ext cx="4617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923925" y="3443288"/>
            <a:ext cx="16440150" cy="571500"/>
          </a:xfrm>
          <a:prstGeom prst="rect">
            <a:avLst/>
          </a:prstGeom>
          <a:solidFill>
            <a:srgbClr val="FAFCFE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925" y="4005262"/>
            <a:ext cx="164401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24" name="Text 22"/>
          <p:cNvSpPr/>
          <p:nvPr/>
        </p:nvSpPr>
        <p:spPr>
          <a:xfrm>
            <a:off x="1190625" y="3595688"/>
            <a:ext cx="37914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6198245" y="3567113"/>
            <a:ext cx="1131391" cy="34290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26" name="Text 24"/>
          <p:cNvSpPr/>
          <p:nvPr/>
        </p:nvSpPr>
        <p:spPr>
          <a:xfrm>
            <a:off x="6275025" y="3614738"/>
            <a:ext cx="1130811" cy="2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9664601" y="35671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8" name="Text 26"/>
          <p:cNvSpPr/>
          <p:nvPr/>
        </p:nvSpPr>
        <p:spPr>
          <a:xfrm>
            <a:off x="9791410" y="36147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2304365" y="3605213"/>
            <a:ext cx="1926790" cy="3048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30" name="Text 28"/>
          <p:cNvSpPr/>
          <p:nvPr/>
        </p:nvSpPr>
        <p:spPr>
          <a:xfrm>
            <a:off x="12380565" y="3652838"/>
            <a:ext cx="16915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3A5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acceso mobile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5859869" y="3567113"/>
            <a:ext cx="584895" cy="32861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32" name="Text 30"/>
          <p:cNvSpPr/>
          <p:nvPr/>
        </p:nvSpPr>
        <p:spPr>
          <a:xfrm>
            <a:off x="15983023" y="3614738"/>
            <a:ext cx="376075" cy="3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923925" y="4576763"/>
            <a:ext cx="164401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34" name="Text 32"/>
          <p:cNvSpPr/>
          <p:nvPr/>
        </p:nvSpPr>
        <p:spPr>
          <a:xfrm>
            <a:off x="1190625" y="4167188"/>
            <a:ext cx="37914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Ejecutivo/a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6198245" y="4138613"/>
            <a:ext cx="1195580" cy="34290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36" name="Text 34"/>
          <p:cNvSpPr/>
          <p:nvPr/>
        </p:nvSpPr>
        <p:spPr>
          <a:xfrm>
            <a:off x="6275025" y="4186238"/>
            <a:ext cx="9778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9664601" y="41386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38" name="Text 36"/>
          <p:cNvSpPr/>
          <p:nvPr/>
        </p:nvSpPr>
        <p:spPr>
          <a:xfrm>
            <a:off x="9791410" y="41862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12304365" y="4176712"/>
            <a:ext cx="1767780" cy="295275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40" name="Text 38"/>
          <p:cNvSpPr/>
          <p:nvPr/>
        </p:nvSpPr>
        <p:spPr>
          <a:xfrm>
            <a:off x="12380565" y="4224337"/>
            <a:ext cx="1691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3A5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acceso mobile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5859869" y="41386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42" name="Text 40"/>
          <p:cNvSpPr/>
          <p:nvPr/>
        </p:nvSpPr>
        <p:spPr>
          <a:xfrm>
            <a:off x="15983024" y="4186238"/>
            <a:ext cx="425128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923925" y="4586288"/>
            <a:ext cx="16440150" cy="571500"/>
          </a:xfrm>
          <a:prstGeom prst="rect">
            <a:avLst/>
          </a:prstGeom>
          <a:solidFill>
            <a:srgbClr val="FAFCFE"/>
          </a:solidFill>
          <a:ln/>
        </p:spPr>
      </p:sp>
      <p:sp>
        <p:nvSpPr>
          <p:cNvPr id="44" name="Shape 42"/>
          <p:cNvSpPr/>
          <p:nvPr/>
        </p:nvSpPr>
        <p:spPr>
          <a:xfrm>
            <a:off x="923925" y="5148263"/>
            <a:ext cx="164401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45" name="Text 43"/>
          <p:cNvSpPr/>
          <p:nvPr/>
        </p:nvSpPr>
        <p:spPr>
          <a:xfrm>
            <a:off x="1190625" y="4738688"/>
            <a:ext cx="37914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</a:t>
            </a:r>
            <a:endParaRPr lang="en-US" sz="1725" dirty="0"/>
          </a:p>
        </p:txBody>
      </p:sp>
      <p:sp>
        <p:nvSpPr>
          <p:cNvPr id="46" name="Shape 44"/>
          <p:cNvSpPr/>
          <p:nvPr/>
        </p:nvSpPr>
        <p:spPr>
          <a:xfrm>
            <a:off x="6198245" y="4710113"/>
            <a:ext cx="1131391" cy="34290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47" name="Text 45"/>
          <p:cNvSpPr/>
          <p:nvPr/>
        </p:nvSpPr>
        <p:spPr>
          <a:xfrm>
            <a:off x="6275025" y="4757738"/>
            <a:ext cx="10641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725" dirty="0"/>
          </a:p>
        </p:txBody>
      </p:sp>
      <p:sp>
        <p:nvSpPr>
          <p:cNvPr id="48" name="Shape 46"/>
          <p:cNvSpPr/>
          <p:nvPr/>
        </p:nvSpPr>
        <p:spPr>
          <a:xfrm>
            <a:off x="9627989" y="47101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49" name="Text 47"/>
          <p:cNvSpPr/>
          <p:nvPr/>
        </p:nvSpPr>
        <p:spPr>
          <a:xfrm>
            <a:off x="9751144" y="4757738"/>
            <a:ext cx="3385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50" name="Shape 48"/>
          <p:cNvSpPr/>
          <p:nvPr/>
        </p:nvSpPr>
        <p:spPr>
          <a:xfrm>
            <a:off x="12932271" y="47101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51" name="Text 49"/>
          <p:cNvSpPr/>
          <p:nvPr/>
        </p:nvSpPr>
        <p:spPr>
          <a:xfrm>
            <a:off x="13059080" y="47577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52" name="Shape 50"/>
          <p:cNvSpPr/>
          <p:nvPr/>
        </p:nvSpPr>
        <p:spPr>
          <a:xfrm>
            <a:off x="15859869" y="47101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53" name="Text 51"/>
          <p:cNvSpPr/>
          <p:nvPr/>
        </p:nvSpPr>
        <p:spPr>
          <a:xfrm>
            <a:off x="15983024" y="4757737"/>
            <a:ext cx="4251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54" name="Shape 52"/>
          <p:cNvSpPr/>
          <p:nvPr/>
        </p:nvSpPr>
        <p:spPr>
          <a:xfrm>
            <a:off x="923925" y="5719763"/>
            <a:ext cx="164401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55" name="Text 53"/>
          <p:cNvSpPr/>
          <p:nvPr/>
        </p:nvSpPr>
        <p:spPr>
          <a:xfrm>
            <a:off x="1190625" y="5310188"/>
            <a:ext cx="37914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</a:t>
            </a:r>
            <a:endParaRPr lang="en-US" sz="1725" dirty="0"/>
          </a:p>
        </p:txBody>
      </p:sp>
      <p:sp>
        <p:nvSpPr>
          <p:cNvPr id="56" name="Shape 54"/>
          <p:cNvSpPr/>
          <p:nvPr/>
        </p:nvSpPr>
        <p:spPr>
          <a:xfrm>
            <a:off x="6198245" y="5281613"/>
            <a:ext cx="1131391" cy="34290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57" name="Text 55"/>
          <p:cNvSpPr/>
          <p:nvPr/>
        </p:nvSpPr>
        <p:spPr>
          <a:xfrm>
            <a:off x="6275025" y="5329238"/>
            <a:ext cx="10054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725" dirty="0"/>
          </a:p>
        </p:txBody>
      </p:sp>
      <p:sp>
        <p:nvSpPr>
          <p:cNvPr id="58" name="Shape 56"/>
          <p:cNvSpPr/>
          <p:nvPr/>
        </p:nvSpPr>
        <p:spPr>
          <a:xfrm>
            <a:off x="9627989" y="52816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59" name="Text 57"/>
          <p:cNvSpPr/>
          <p:nvPr/>
        </p:nvSpPr>
        <p:spPr>
          <a:xfrm>
            <a:off x="9751144" y="5329238"/>
            <a:ext cx="3385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60" name="Shape 58"/>
          <p:cNvSpPr/>
          <p:nvPr/>
        </p:nvSpPr>
        <p:spPr>
          <a:xfrm>
            <a:off x="12932271" y="52816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61" name="Text 59"/>
          <p:cNvSpPr/>
          <p:nvPr/>
        </p:nvSpPr>
        <p:spPr>
          <a:xfrm>
            <a:off x="13059080" y="53292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62" name="Shape 60"/>
          <p:cNvSpPr/>
          <p:nvPr/>
        </p:nvSpPr>
        <p:spPr>
          <a:xfrm>
            <a:off x="15859869" y="5281613"/>
            <a:ext cx="584895" cy="4191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63" name="Text 61"/>
          <p:cNvSpPr/>
          <p:nvPr/>
        </p:nvSpPr>
        <p:spPr>
          <a:xfrm>
            <a:off x="15983024" y="5329237"/>
            <a:ext cx="4251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64" name="Shape 62"/>
          <p:cNvSpPr/>
          <p:nvPr/>
        </p:nvSpPr>
        <p:spPr>
          <a:xfrm>
            <a:off x="923925" y="5729288"/>
            <a:ext cx="16440150" cy="571500"/>
          </a:xfrm>
          <a:prstGeom prst="rect">
            <a:avLst/>
          </a:prstGeom>
          <a:solidFill>
            <a:srgbClr val="FAFCFE"/>
          </a:solidFill>
          <a:ln/>
        </p:spPr>
      </p:sp>
      <p:sp>
        <p:nvSpPr>
          <p:cNvPr id="65" name="Shape 63"/>
          <p:cNvSpPr/>
          <p:nvPr/>
        </p:nvSpPr>
        <p:spPr>
          <a:xfrm>
            <a:off x="923925" y="6291263"/>
            <a:ext cx="164401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66" name="Text 64"/>
          <p:cNvSpPr/>
          <p:nvPr/>
        </p:nvSpPr>
        <p:spPr>
          <a:xfrm>
            <a:off x="1190625" y="5881688"/>
            <a:ext cx="37914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725" dirty="0"/>
          </a:p>
        </p:txBody>
      </p:sp>
      <p:sp>
        <p:nvSpPr>
          <p:cNvPr id="67" name="Shape 65"/>
          <p:cNvSpPr/>
          <p:nvPr/>
        </p:nvSpPr>
        <p:spPr>
          <a:xfrm>
            <a:off x="6198245" y="5853113"/>
            <a:ext cx="1131391" cy="34290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68" name="Text 66"/>
          <p:cNvSpPr/>
          <p:nvPr/>
        </p:nvSpPr>
        <p:spPr>
          <a:xfrm>
            <a:off x="6275025" y="5900738"/>
            <a:ext cx="10641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725" dirty="0"/>
          </a:p>
        </p:txBody>
      </p:sp>
      <p:sp>
        <p:nvSpPr>
          <p:cNvPr id="69" name="Shape 67"/>
          <p:cNvSpPr/>
          <p:nvPr/>
        </p:nvSpPr>
        <p:spPr>
          <a:xfrm>
            <a:off x="9323189" y="5891213"/>
            <a:ext cx="1194495" cy="295275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70" name="Text 68"/>
          <p:cNvSpPr/>
          <p:nvPr/>
        </p:nvSpPr>
        <p:spPr>
          <a:xfrm>
            <a:off x="9399389" y="5938838"/>
            <a:ext cx="1042095" cy="200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3A5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perfil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12932271" y="58531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2" name="Text 70"/>
          <p:cNvSpPr/>
          <p:nvPr/>
        </p:nvSpPr>
        <p:spPr>
          <a:xfrm>
            <a:off x="13059080" y="59007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73" name="Shape 71"/>
          <p:cNvSpPr/>
          <p:nvPr/>
        </p:nvSpPr>
        <p:spPr>
          <a:xfrm>
            <a:off x="15859869" y="58531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74" name="Text 72"/>
          <p:cNvSpPr/>
          <p:nvPr/>
        </p:nvSpPr>
        <p:spPr>
          <a:xfrm>
            <a:off x="15983024" y="5900738"/>
            <a:ext cx="4251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75" name="Shape 73"/>
          <p:cNvSpPr/>
          <p:nvPr/>
        </p:nvSpPr>
        <p:spPr>
          <a:xfrm>
            <a:off x="923925" y="6862763"/>
            <a:ext cx="16440150" cy="9525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76" name="Text 74"/>
          <p:cNvSpPr/>
          <p:nvPr/>
        </p:nvSpPr>
        <p:spPr>
          <a:xfrm>
            <a:off x="1190625" y="6453188"/>
            <a:ext cx="37914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Conserje</a:t>
            </a:r>
            <a:endParaRPr lang="en-US" sz="1725" dirty="0"/>
          </a:p>
        </p:txBody>
      </p:sp>
      <p:sp>
        <p:nvSpPr>
          <p:cNvPr id="77" name="Shape 75"/>
          <p:cNvSpPr/>
          <p:nvPr/>
        </p:nvSpPr>
        <p:spPr>
          <a:xfrm>
            <a:off x="6198245" y="6424613"/>
            <a:ext cx="1131391" cy="34290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78" name="Text 76"/>
          <p:cNvSpPr/>
          <p:nvPr/>
        </p:nvSpPr>
        <p:spPr>
          <a:xfrm>
            <a:off x="6275025" y="6472238"/>
            <a:ext cx="10546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725" dirty="0"/>
          </a:p>
        </p:txBody>
      </p:sp>
      <p:sp>
        <p:nvSpPr>
          <p:cNvPr id="79" name="Shape 77"/>
          <p:cNvSpPr/>
          <p:nvPr/>
        </p:nvSpPr>
        <p:spPr>
          <a:xfrm>
            <a:off x="9627989" y="6424613"/>
            <a:ext cx="584895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80" name="Text 78"/>
          <p:cNvSpPr/>
          <p:nvPr/>
        </p:nvSpPr>
        <p:spPr>
          <a:xfrm>
            <a:off x="9751143" y="6472237"/>
            <a:ext cx="4252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81" name="Shape 79"/>
          <p:cNvSpPr/>
          <p:nvPr/>
        </p:nvSpPr>
        <p:spPr>
          <a:xfrm>
            <a:off x="12932271" y="64246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82" name="Text 80"/>
          <p:cNvSpPr/>
          <p:nvPr/>
        </p:nvSpPr>
        <p:spPr>
          <a:xfrm>
            <a:off x="13059080" y="64722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83" name="Shape 81"/>
          <p:cNvSpPr/>
          <p:nvPr/>
        </p:nvSpPr>
        <p:spPr>
          <a:xfrm>
            <a:off x="15859869" y="6424613"/>
            <a:ext cx="584895" cy="32385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84" name="Text 82"/>
          <p:cNvSpPr/>
          <p:nvPr/>
        </p:nvSpPr>
        <p:spPr>
          <a:xfrm>
            <a:off x="15983024" y="6472237"/>
            <a:ext cx="4617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725" dirty="0"/>
          </a:p>
        </p:txBody>
      </p:sp>
      <p:sp>
        <p:nvSpPr>
          <p:cNvPr id="85" name="Shape 83"/>
          <p:cNvSpPr/>
          <p:nvPr/>
        </p:nvSpPr>
        <p:spPr>
          <a:xfrm>
            <a:off x="923925" y="6872288"/>
            <a:ext cx="16440150" cy="566738"/>
          </a:xfrm>
          <a:prstGeom prst="rect">
            <a:avLst/>
          </a:prstGeom>
          <a:solidFill>
            <a:srgbClr val="FAFCFE"/>
          </a:solidFill>
          <a:ln/>
        </p:spPr>
      </p:sp>
      <p:sp>
        <p:nvSpPr>
          <p:cNvPr id="86" name="Text 84"/>
          <p:cNvSpPr/>
          <p:nvPr/>
        </p:nvSpPr>
        <p:spPr>
          <a:xfrm>
            <a:off x="1190625" y="7024688"/>
            <a:ext cx="37914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Komite</a:t>
            </a:r>
            <a:endParaRPr lang="en-US" sz="1725" dirty="0"/>
          </a:p>
        </p:txBody>
      </p:sp>
      <p:sp>
        <p:nvSpPr>
          <p:cNvPr id="87" name="Shape 85"/>
          <p:cNvSpPr/>
          <p:nvPr/>
        </p:nvSpPr>
        <p:spPr>
          <a:xfrm>
            <a:off x="6507956" y="69961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88" name="Text 86"/>
          <p:cNvSpPr/>
          <p:nvPr/>
        </p:nvSpPr>
        <p:spPr>
          <a:xfrm>
            <a:off x="6634765" y="70437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89" name="Shape 87"/>
          <p:cNvSpPr/>
          <p:nvPr/>
        </p:nvSpPr>
        <p:spPr>
          <a:xfrm>
            <a:off x="9157395" y="7034213"/>
            <a:ext cx="1526232" cy="295275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90" name="Text 88"/>
          <p:cNvSpPr/>
          <p:nvPr/>
        </p:nvSpPr>
        <p:spPr>
          <a:xfrm>
            <a:off x="9233595" y="7081837"/>
            <a:ext cx="1450032" cy="26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como cliente</a:t>
            </a:r>
            <a:endParaRPr lang="en-US" sz="1425" dirty="0"/>
          </a:p>
        </p:txBody>
      </p:sp>
      <p:sp>
        <p:nvSpPr>
          <p:cNvPr id="91" name="Shape 89"/>
          <p:cNvSpPr/>
          <p:nvPr/>
        </p:nvSpPr>
        <p:spPr>
          <a:xfrm>
            <a:off x="12646819" y="6996113"/>
            <a:ext cx="1082725" cy="34290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92" name="Text 90"/>
          <p:cNvSpPr/>
          <p:nvPr/>
        </p:nvSpPr>
        <p:spPr>
          <a:xfrm>
            <a:off x="12726033" y="7043738"/>
            <a:ext cx="9242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725" dirty="0"/>
          </a:p>
        </p:txBody>
      </p:sp>
      <p:sp>
        <p:nvSpPr>
          <p:cNvPr id="93" name="Shape 91"/>
          <p:cNvSpPr/>
          <p:nvPr/>
        </p:nvSpPr>
        <p:spPr>
          <a:xfrm>
            <a:off x="15896332" y="6996113"/>
            <a:ext cx="511820" cy="3429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94" name="Text 92"/>
          <p:cNvSpPr/>
          <p:nvPr/>
        </p:nvSpPr>
        <p:spPr>
          <a:xfrm>
            <a:off x="16023141" y="7043738"/>
            <a:ext cx="2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725" dirty="0"/>
          </a:p>
        </p:txBody>
      </p:sp>
      <p:sp>
        <p:nvSpPr>
          <p:cNvPr id="95" name="Shape 93"/>
          <p:cNvSpPr/>
          <p:nvPr/>
        </p:nvSpPr>
        <p:spPr>
          <a:xfrm>
            <a:off x="914400" y="7720013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6F4EA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23950" y="7658100"/>
            <a:ext cx="72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</a:t>
            </a:r>
            <a:endParaRPr lang="en-US" sz="1500" dirty="0"/>
          </a:p>
        </p:txBody>
      </p:sp>
      <p:sp>
        <p:nvSpPr>
          <p:cNvPr id="97" name="Shape 95"/>
          <p:cNvSpPr/>
          <p:nvPr/>
        </p:nvSpPr>
        <p:spPr>
          <a:xfrm>
            <a:off x="2040582" y="7720013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FF4E5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250132" y="7658100"/>
            <a:ext cx="201706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 / opcional</a:t>
            </a:r>
            <a:endParaRPr lang="en-US" sz="1500" dirty="0"/>
          </a:p>
        </p:txBody>
      </p:sp>
      <p:sp>
        <p:nvSpPr>
          <p:cNvPr id="99" name="Shape 97"/>
          <p:cNvSpPr/>
          <p:nvPr/>
        </p:nvSpPr>
        <p:spPr>
          <a:xfrm>
            <a:off x="4457700" y="7720013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67250" y="7658100"/>
            <a:ext cx="102453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3243" y="781050"/>
            <a:ext cx="944251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datos por tenant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581150"/>
            <a:ext cx="1226343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empresa administradora es un tenant: sus condominios y usuarios solo ven datos de su propia empresa.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12993" y="4162425"/>
            <a:ext cx="3261866" cy="828675"/>
          </a:xfrm>
          <a:prstGeom prst="roundRect">
            <a:avLst>
              <a:gd name="adj" fmla="val 18391"/>
            </a:avLst>
          </a:prstGeom>
          <a:gradFill rotWithShape="1">
            <a:gsLst>
              <a:gs pos="0">
                <a:srgbClr val="0A2540">
                  <a:alpha val="100000"/>
                </a:srgbClr>
              </a:gs>
              <a:gs pos="100000">
                <a:srgbClr val="0C4A9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7970193" y="4414838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8641C"/>
          </a:solidFill>
          <a:ln/>
        </p:spPr>
      </p:sp>
      <p:sp>
        <p:nvSpPr>
          <p:cNvPr id="7" name="Text 5"/>
          <p:cNvSpPr/>
          <p:nvPr/>
        </p:nvSpPr>
        <p:spPr>
          <a:xfrm>
            <a:off x="7932093" y="441483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27393" y="4391025"/>
            <a:ext cx="21204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SaaS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34475" y="4991100"/>
            <a:ext cx="19050" cy="34290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7000" y="4991100"/>
            <a:ext cx="5334000" cy="1905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1" name="Shape 9"/>
          <p:cNvSpPr/>
          <p:nvPr/>
        </p:nvSpPr>
        <p:spPr>
          <a:xfrm>
            <a:off x="6276975" y="5314950"/>
            <a:ext cx="19050" cy="34290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0000" y="5657850"/>
            <a:ext cx="4953000" cy="1771650"/>
          </a:xfrm>
          <a:prstGeom prst="roundRect">
            <a:avLst>
              <a:gd name="adj" fmla="val 7527"/>
            </a:avLst>
          </a:prstGeom>
          <a:solidFill>
            <a:srgbClr val="EEF3FA"/>
          </a:solidFill>
          <a:ln w="19050">
            <a:solidFill>
              <a:srgbClr val="0C4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1950" y="5943600"/>
            <a:ext cx="4652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administradora A</a:t>
            </a:r>
            <a:endParaRPr lang="en-US" sz="2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1950" y="6472238"/>
            <a:ext cx="209550" cy="2095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476750" y="6419850"/>
            <a:ext cx="28126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Condominios A1 · A2 · A3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950" y="6881813"/>
            <a:ext cx="209550" cy="2095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76750" y="6829425"/>
            <a:ext cx="120000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A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1991975" y="5314950"/>
            <a:ext cx="19050" cy="342900"/>
          </a:xfrm>
          <a:prstGeom prst="rect">
            <a:avLst/>
          </a:prstGeom>
          <a:solidFill>
            <a:srgbClr val="DBE4EF"/>
          </a:solidFill>
          <a:ln/>
        </p:spPr>
      </p:sp>
      <p:sp>
        <p:nvSpPr>
          <p:cNvPr id="19" name="Shape 15"/>
          <p:cNvSpPr/>
          <p:nvPr/>
        </p:nvSpPr>
        <p:spPr>
          <a:xfrm>
            <a:off x="9525000" y="5657850"/>
            <a:ext cx="4953000" cy="1771650"/>
          </a:xfrm>
          <a:prstGeom prst="roundRect">
            <a:avLst>
              <a:gd name="adj" fmla="val 7527"/>
            </a:avLst>
          </a:prstGeom>
          <a:solidFill>
            <a:srgbClr val="E0F2EF"/>
          </a:solidFill>
          <a:ln w="19050">
            <a:solidFill>
              <a:srgbClr val="0F8F8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86950" y="5943600"/>
            <a:ext cx="4652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administradora B</a:t>
            </a:r>
            <a:endParaRPr lang="en-US" sz="2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6950" y="6472238"/>
            <a:ext cx="209550" cy="2095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191750" y="6419850"/>
            <a:ext cx="2159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Condominios B1 · B2</a:t>
            </a:r>
            <a:endParaRPr lang="en-US" sz="18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6950" y="6881813"/>
            <a:ext cx="209550" cy="2095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191750" y="6829425"/>
            <a:ext cx="11952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B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1440" y="9191625"/>
            <a:ext cx="181051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de A y B nunca se mezclan —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administra clientes y soporte a nivel plataforma.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23243" y="781050"/>
            <a:ext cx="845452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acceso simplificado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14400" y="1581150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login a mostrar únicamente lo que el usuario puede ver.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4197846"/>
            <a:ext cx="3971925" cy="1626691"/>
          </a:xfrm>
          <a:prstGeom prst="roundRect">
            <a:avLst>
              <a:gd name="adj" fmla="val 9369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171450" dist="5715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90625" y="4474071"/>
            <a:ext cx="37614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90625" y="4912221"/>
            <a:ext cx="3761423" cy="356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sesión</a:t>
            </a: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6825" y="4197846"/>
            <a:ext cx="3971925" cy="1626691"/>
          </a:xfrm>
          <a:prstGeom prst="roundRect">
            <a:avLst>
              <a:gd name="adj" fmla="val 9369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171450" dist="5715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53050" y="4474071"/>
            <a:ext cx="37614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353050" y="4912221"/>
            <a:ext cx="3522059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valida </a:t>
            </a: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y empresa.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39250" y="4197846"/>
            <a:ext cx="3971925" cy="1626691"/>
          </a:xfrm>
          <a:prstGeom prst="roundRect">
            <a:avLst>
              <a:gd name="adj" fmla="val 9369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171450" dist="5715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15475" y="4474071"/>
            <a:ext cx="37614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15475" y="4912221"/>
            <a:ext cx="3522059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Portal: revisa perfil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project_manager </a:t>
            </a: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</a:t>
            </a: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401675" y="4197846"/>
            <a:ext cx="3971925" cy="1626691"/>
          </a:xfrm>
          <a:prstGeom prst="roundRect">
            <a:avLst>
              <a:gd name="adj" fmla="val 9369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171450" dist="5715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677900" y="4474071"/>
            <a:ext cx="37614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677900" y="4912221"/>
            <a:ext cx="3522059" cy="674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Mobile: carga los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condominios asignados </a:t>
            </a: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6015038"/>
            <a:ext cx="3971925" cy="1617166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171450" dist="5715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90625" y="6291263"/>
            <a:ext cx="37614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90625" y="6729413"/>
            <a:ext cx="3522059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"Todos" </a:t>
            </a: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 expanden los condominios activos.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76825" y="6015038"/>
            <a:ext cx="3971925" cy="1617166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  <a:effectLst>
            <a:outerShdw blurRad="171450" dist="57150" dir="5400000" algn="bl" rotWithShape="0">
              <a:srgbClr val="0A254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53050" y="6291263"/>
            <a:ext cx="37614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8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5353050" y="6729413"/>
            <a:ext cx="3522059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</a:t>
            </a:r>
            <a:r>
              <a:rPr lang="en-US" sz="1800" b="1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condominio </a:t>
            </a:r>
            <a:r>
              <a:rPr lang="en-US" sz="1800" dirty="0">
                <a:solidFill>
                  <a:srgbClr val="12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corresponde.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39250" y="6015038"/>
            <a:ext cx="8134350" cy="1617166"/>
          </a:xfrm>
          <a:prstGeom prst="roundRect">
            <a:avLst>
              <a:gd name="adj" fmla="val 9424"/>
            </a:avLst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9563100" y="6661696"/>
            <a:ext cx="2351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912548" y="6640711"/>
            <a:ext cx="745899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muestra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que ese usuario puede ver.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2540">
                  <a:alpha val="100000"/>
                </a:srgbClr>
              </a:gs>
              <a:gs pos="100000">
                <a:srgbClr val="0C4A9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152525"/>
            <a:ext cx="394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E86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23243" y="781050"/>
            <a:ext cx="433048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4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clave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1581150"/>
            <a:ext cx="18105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mundos, roles simples, datos separados.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768304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8641C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4673054"/>
            <a:ext cx="7946708" cy="767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separa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mundos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comercial, administración cliente, mobile comunitario/terreno y backoffice interno.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53550" y="4768304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8641C"/>
          </a:solidFill>
          <a:ln/>
        </p:spPr>
      </p:sp>
      <p:sp>
        <p:nvSpPr>
          <p:cNvPr id="9" name="Text 7"/>
          <p:cNvSpPr/>
          <p:nvPr/>
        </p:nvSpPr>
        <p:spPr>
          <a:xfrm>
            <a:off x="9658350" y="4673054"/>
            <a:ext cx="7946708" cy="767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roles se mantienen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reducir errores de permisos.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70741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8641C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5612160"/>
            <a:ext cx="7946708" cy="77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Portal Administrador se centra en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Ejecutivo/a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53550" y="570741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8641C"/>
          </a:solidFill>
          <a:ln/>
        </p:spPr>
      </p:sp>
      <p:sp>
        <p:nvSpPr>
          <p:cNvPr id="13" name="Text 11"/>
          <p:cNvSpPr/>
          <p:nvPr/>
        </p:nvSpPr>
        <p:spPr>
          <a:xfrm>
            <a:off x="9658350" y="5612160"/>
            <a:ext cx="7946708" cy="77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mobile se centra en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Vecino, Comité, Supervisor y Conserje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65604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864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6560790"/>
            <a:ext cx="5947946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Backoffice es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empleados Komite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53550" y="665604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8641C"/>
          </a:solidFill>
          <a:ln/>
        </p:spPr>
      </p:sp>
      <p:sp>
        <p:nvSpPr>
          <p:cNvPr id="17" name="Text 15"/>
          <p:cNvSpPr/>
          <p:nvPr/>
        </p:nvSpPr>
        <p:spPr>
          <a:xfrm>
            <a:off x="9658350" y="6560790"/>
            <a:ext cx="7946708" cy="767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que varias empresas usen la plataforma sin mezclar datos.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044726"/>
            <a:ext cx="838200" cy="57150"/>
          </a:xfrm>
          <a:prstGeom prst="roundRect">
            <a:avLst>
              <a:gd name="adj" fmla="val 50000"/>
            </a:avLst>
          </a:prstGeom>
          <a:solidFill>
            <a:srgbClr val="E8641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82876"/>
            <a:ext cx="14225588" cy="1572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700" b="1" kern="0" spc="-5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organiza la operación comunitaria sin mezclar responsabilidades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5379244"/>
            <a:ext cx="1226343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B9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con canales separados, roles claros y visibilidad controlada, para que cada actor vea solo lo que necesita.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6842224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8641C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684222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6850" y="6894612"/>
            <a:ext cx="10851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1497</Words>
  <Application>Microsoft Office PowerPoint</Application>
  <PresentationFormat>Personalizado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Manuel Vergara Marquez</cp:lastModifiedBy>
  <cp:revision>5</cp:revision>
  <dcterms:created xsi:type="dcterms:W3CDTF">2026-07-03T14:46:20Z</dcterms:created>
  <dcterms:modified xsi:type="dcterms:W3CDTF">2026-07-03T14:56:24Z</dcterms:modified>
</cp:coreProperties>
</file>