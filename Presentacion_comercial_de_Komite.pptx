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8B1F"/>
    <a:srgbClr val="16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28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Komite a la administradora. La promesa: convertir la operación diaria del condominio en información clara y verificable para el comité y los vecinos. 30 segundos de contexto y avanzar.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dolor real: la administradora trabaja mucho, pero el comité y los vecinos no lo perciben. La información vive en WhatsApp, fotos sueltas y notas de voz. No hay historial. Cuando el comité pregunta '¿qué se hizo?', reconstruir la respuesta cuesta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definición en una frase. Komite recoge lo que pasa en terreno (mensajes, fotos, audios, tareas) y lo transforma en informes, comunicaciones y trazabilidad. No es otra red social ni otro chat: es el puente entre la operación y la comunidad.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del flujo en 4 pasos. Lo importante para la administradora: el trabajo de terreno entra fácil (foto/audio), la IA hace el borrador, el administrador aprueba (control humano), y recién ahí se publica. Nada sale sin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ahorro de tiempo. Mostrar el antes/después: un audio informal del conserje se convierte en un informe redactado y profesional en segundos. Enfatizar que la IA no inventa: solo ordena y redacta lo que se reportó, y siempre queda el original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 clave para retener clientes. El comité entra a un panel y ve, sin llamar a nadie, qué está abierto, qué se hizo y qué informes hay. La administradora demuestra su trabajo sola. Esto reduce fricción y desconfianza.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respaldo. Cada acción queda con fecha, responsable y evidencia (foto/audio). Cuando hay una discusión con el comité o un reclamo, la administradora tiene la prueba. Es su seguro de tranquilidad.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Quitar la objeción de compra. Komite NO reemplaza Edifito ni el sistema contable. Se ocupa de la operación, la comunicación y la evidencia; el otro sistema sigue con gastos comunes y contabilidad. Conviven.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persona ve solo lo que necesita. Terreno reporta desde el celular; la administradora controla todo desde el escritorio; el comité y los vecinos reciben lo aprobado. Cada uno con su acceso.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de valor de negocio. Traducir todo lo anterior en beneficios para la empresa: ahorro de horas, comités más conformes, retención de clientes, y una imagen profesional. Este es el 'por qué comprar'.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administradora puede medir su propia operación: tiempos de resolución, tareas vencidas, mantenciones al día. Datos para gestionar el equipo y para mostrarle números al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Bajar la ansiedad de implementación. Se parte enfocado y simple: supervisores + backoffice + comité + informes con IA. Luego se suman vecinos y más canales. No hay que hacer todo de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Repetir la promesa en una línea y pedir el siguiente paso: agendar una demo con un condominio piloto. Dejar datos de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0075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" y="533400"/>
            <a:ext cx="4132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42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comercial · 2026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763202" y="533400"/>
            <a:ext cx="49247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administradoras de condominios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5536" y="3113633"/>
            <a:ext cx="3996779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61335" y="6866483"/>
            <a:ext cx="12165330" cy="110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34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diaria de tus condominios, convertida en </a:t>
            </a:r>
            <a:r>
              <a:rPr lang="en-US" sz="345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clara </a:t>
            </a:r>
            <a:r>
              <a:rPr lang="en-US" sz="34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comité y los vecinos.</a:t>
            </a:r>
            <a:endParaRPr lang="en-US" sz="345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C9981F8-466C-AD62-575B-5146E3AABB23}"/>
              </a:ext>
            </a:extLst>
          </p:cNvPr>
          <p:cNvSpPr/>
          <p:nvPr/>
        </p:nvSpPr>
        <p:spPr>
          <a:xfrm>
            <a:off x="0" y="9867900"/>
            <a:ext cx="18288000" cy="419100"/>
          </a:xfrm>
          <a:prstGeom prst="rect">
            <a:avLst/>
          </a:prstGeom>
          <a:solidFill>
            <a:srgbClr val="16293B"/>
          </a:solidFill>
          <a:ln w="9525" cap="flat">
            <a:noFill/>
            <a:prstDash val="solid"/>
            <a:miter/>
          </a:ln>
        </p:spPr>
      </p:sp>
      <p:grpSp>
        <p:nvGrpSpPr>
          <p:cNvPr id="28" name="Image 1" descr="preencoded.png">
            <a:extLst>
              <a:ext uri="{FF2B5EF4-FFF2-40B4-BE49-F238E27FC236}">
                <a16:creationId xmlns:a16="http://schemas.microsoft.com/office/drawing/2014/main" id="{AB09DCE6-BCBC-0AC2-B727-99745DE1BBB9}"/>
              </a:ext>
            </a:extLst>
          </p:cNvPr>
          <p:cNvGrpSpPr/>
          <p:nvPr/>
        </p:nvGrpSpPr>
        <p:grpSpPr>
          <a:xfrm>
            <a:off x="1428750" y="8534400"/>
            <a:ext cx="15525750" cy="1524000"/>
            <a:chOff x="1428750" y="8534400"/>
            <a:chExt cx="15525750" cy="1524000"/>
          </a:xfrm>
          <a:solidFill>
            <a:srgbClr val="16293B"/>
          </a:solidFill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4CAFFB2D-187C-D5C7-AA9F-9C53D75FA3A7}"/>
                </a:ext>
              </a:extLst>
            </p:cNvPr>
            <p:cNvSpPr/>
            <p:nvPr/>
          </p:nvSpPr>
          <p:spPr>
            <a:xfrm>
              <a:off x="1428750" y="8915400"/>
              <a:ext cx="1428750" cy="11430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8B7D3CD-1F49-86B9-6589-523451F32D5D}"/>
                </a:ext>
              </a:extLst>
            </p:cNvPr>
            <p:cNvSpPr/>
            <p:nvPr/>
          </p:nvSpPr>
          <p:spPr>
            <a:xfrm>
              <a:off x="3143250" y="8534400"/>
              <a:ext cx="1143000" cy="15240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03738A6C-F428-E926-3C45-845D0C77F4AF}"/>
                </a:ext>
              </a:extLst>
            </p:cNvPr>
            <p:cNvSpPr/>
            <p:nvPr/>
          </p:nvSpPr>
          <p:spPr>
            <a:xfrm>
              <a:off x="4476750" y="9201150"/>
              <a:ext cx="1238250" cy="8572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6DF86990-6535-709B-E5FF-402994380BA0}"/>
                </a:ext>
              </a:extLst>
            </p:cNvPr>
            <p:cNvSpPr/>
            <p:nvPr/>
          </p:nvSpPr>
          <p:spPr>
            <a:xfrm>
              <a:off x="12763500" y="9048750"/>
              <a:ext cx="1428750" cy="10096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12EBCBA-2112-5F14-9961-C795A157E899}"/>
                </a:ext>
              </a:extLst>
            </p:cNvPr>
            <p:cNvSpPr/>
            <p:nvPr/>
          </p:nvSpPr>
          <p:spPr>
            <a:xfrm>
              <a:off x="14382750" y="8572500"/>
              <a:ext cx="1143000" cy="14859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6B7A0CD3-31A7-7086-8FDC-DC2BA7DEF2F4}"/>
                </a:ext>
              </a:extLst>
            </p:cNvPr>
            <p:cNvSpPr/>
            <p:nvPr/>
          </p:nvSpPr>
          <p:spPr>
            <a:xfrm>
              <a:off x="15716250" y="9144000"/>
              <a:ext cx="1238250" cy="9144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5" name="Image 1" descr="preencoded.png">
            <a:extLst>
              <a:ext uri="{FF2B5EF4-FFF2-40B4-BE49-F238E27FC236}">
                <a16:creationId xmlns:a16="http://schemas.microsoft.com/office/drawing/2014/main" id="{190D091E-9569-91EE-9C38-06DE81F6A584}"/>
              </a:ext>
            </a:extLst>
          </p:cNvPr>
          <p:cNvGrpSpPr/>
          <p:nvPr/>
        </p:nvGrpSpPr>
        <p:grpSpPr>
          <a:xfrm>
            <a:off x="1714500" y="8820150"/>
            <a:ext cx="14573250" cy="952500"/>
            <a:chOff x="1714500" y="8820150"/>
            <a:chExt cx="14573250" cy="952500"/>
          </a:xfrm>
          <a:solidFill>
            <a:srgbClr val="000000"/>
          </a:solidFill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1DE52BAC-9AFB-35B9-255F-F8A6B015BD7B}"/>
                </a:ext>
              </a:extLst>
            </p:cNvPr>
            <p:cNvSpPr/>
            <p:nvPr/>
          </p:nvSpPr>
          <p:spPr>
            <a:xfrm>
              <a:off x="1714500" y="914400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55F22C2F-77E2-C9AB-4A84-16E1B9FB6C00}"/>
                </a:ext>
              </a:extLst>
            </p:cNvPr>
            <p:cNvSpPr/>
            <p:nvPr/>
          </p:nvSpPr>
          <p:spPr>
            <a:xfrm>
              <a:off x="2095500" y="914400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175B9E18-5A21-D8BC-220E-B080A5ACF8F0}"/>
                </a:ext>
              </a:extLst>
            </p:cNvPr>
            <p:cNvSpPr/>
            <p:nvPr/>
          </p:nvSpPr>
          <p:spPr>
            <a:xfrm>
              <a:off x="1714500" y="952500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5F59FF85-271A-3FA2-B0EA-8A796573AA76}"/>
                </a:ext>
              </a:extLst>
            </p:cNvPr>
            <p:cNvSpPr/>
            <p:nvPr/>
          </p:nvSpPr>
          <p:spPr>
            <a:xfrm>
              <a:off x="3429000" y="88201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48D1348D-DF57-AF3D-85B1-CEF0A8540441}"/>
                </a:ext>
              </a:extLst>
            </p:cNvPr>
            <p:cNvSpPr/>
            <p:nvPr/>
          </p:nvSpPr>
          <p:spPr>
            <a:xfrm>
              <a:off x="3810000" y="88201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62784F0A-2299-2DCC-8F4A-DB93F46E025A}"/>
                </a:ext>
              </a:extLst>
            </p:cNvPr>
            <p:cNvSpPr/>
            <p:nvPr/>
          </p:nvSpPr>
          <p:spPr>
            <a:xfrm>
              <a:off x="3429000" y="92011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ED59019A-8F4C-4870-400E-420B69C0C833}"/>
                </a:ext>
              </a:extLst>
            </p:cNvPr>
            <p:cNvSpPr/>
            <p:nvPr/>
          </p:nvSpPr>
          <p:spPr>
            <a:xfrm>
              <a:off x="3810000" y="92011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4AD32370-B594-2191-1A4A-8E5D7E36A8B6}"/>
                </a:ext>
              </a:extLst>
            </p:cNvPr>
            <p:cNvSpPr/>
            <p:nvPr/>
          </p:nvSpPr>
          <p:spPr>
            <a:xfrm>
              <a:off x="3429000" y="95821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2F3824F1-992F-CDD0-7781-B4FE50FDEB4C}"/>
                </a:ext>
              </a:extLst>
            </p:cNvPr>
            <p:cNvSpPr/>
            <p:nvPr/>
          </p:nvSpPr>
          <p:spPr>
            <a:xfrm>
              <a:off x="14668500" y="88582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32C4C77A-338D-D940-EC80-3A3A3D7C88AD}"/>
                </a:ext>
              </a:extLst>
            </p:cNvPr>
            <p:cNvSpPr/>
            <p:nvPr/>
          </p:nvSpPr>
          <p:spPr>
            <a:xfrm>
              <a:off x="15049500" y="88582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56796B99-85E0-1C80-C473-22D5612A722C}"/>
                </a:ext>
              </a:extLst>
            </p:cNvPr>
            <p:cNvSpPr/>
            <p:nvPr/>
          </p:nvSpPr>
          <p:spPr>
            <a:xfrm>
              <a:off x="14668500" y="92392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B1E8CF5A-BAEF-6C67-34A7-F893CEF39BB4}"/>
                </a:ext>
              </a:extLst>
            </p:cNvPr>
            <p:cNvSpPr/>
            <p:nvPr/>
          </p:nvSpPr>
          <p:spPr>
            <a:xfrm>
              <a:off x="13049250" y="933450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B6B9F4ED-A583-9519-986A-CD14F9AE0624}"/>
                </a:ext>
              </a:extLst>
            </p:cNvPr>
            <p:cNvSpPr/>
            <p:nvPr/>
          </p:nvSpPr>
          <p:spPr>
            <a:xfrm>
              <a:off x="16097250" y="9429750"/>
              <a:ext cx="190500" cy="190500"/>
            </a:xfrm>
            <a:prstGeom prst="rect">
              <a:avLst/>
            </a:prstGeom>
            <a:solidFill>
              <a:srgbClr val="EF8B1F"/>
            </a:solidFill>
            <a:ln w="9525" cap="flat">
              <a:noFill/>
              <a:prstDash val="solid"/>
              <a:miter/>
            </a:ln>
          </p:spPr>
        </p:sp>
      </p:grp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2C1137D-083E-E7CE-B9B9-6EBF0E97431E}"/>
              </a:ext>
            </a:extLst>
          </p:cNvPr>
          <p:cNvSpPr/>
          <p:nvPr/>
        </p:nvSpPr>
        <p:spPr>
          <a:xfrm>
            <a:off x="4667250" y="9415697"/>
            <a:ext cx="190500" cy="190500"/>
          </a:xfrm>
          <a:prstGeom prst="rect">
            <a:avLst/>
          </a:prstGeom>
          <a:solidFill>
            <a:srgbClr val="EF8B1F"/>
          </a:solidFill>
          <a:ln w="9525" cap="flat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2074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una brecha entre lo que la administración hace y lo que la comunidad percibe.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5310336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4946600"/>
            <a:ext cx="6801762" cy="897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reportes llegan por WhatsApp, de forma desordenada.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6189315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6036022"/>
            <a:ext cx="76313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Fotos, audios y mensajes se pierden en los chats.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6857851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9" name="Text 7"/>
          <p:cNvSpPr/>
          <p:nvPr/>
        </p:nvSpPr>
        <p:spPr>
          <a:xfrm>
            <a:off x="1390650" y="6704558"/>
            <a:ext cx="7660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comité no sabe en qué estado están las tareas.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7526387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7373094"/>
            <a:ext cx="752285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informes se redactan a mano, una y otra vez.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8194923"/>
            <a:ext cx="133350" cy="13335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90650" y="8041630"/>
            <a:ext cx="68541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 historial claro de lo que ocurrió.</a:t>
            </a:r>
            <a:endParaRPr lang="en-US" sz="25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6100" y="4850606"/>
            <a:ext cx="4762500" cy="37271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41476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KOMITE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910060"/>
            <a:ext cx="14716125" cy="2954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transforma mensajes, audios, fotos y tareas del día a día en </a:t>
            </a:r>
            <a:r>
              <a:rPr lang="en-US" sz="495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informes, comunicaciones y trazabilidad </a:t>
            </a: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tus condominios.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2962275" y="5493246"/>
            <a:ext cx="1123950" cy="1123950"/>
          </a:xfrm>
          <a:prstGeom prst="roundRect">
            <a:avLst>
              <a:gd name="adj" fmla="val 23729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500" y="5769471"/>
            <a:ext cx="571500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44304" y="6788646"/>
            <a:ext cx="17598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carga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50745" y="7379196"/>
            <a:ext cx="2747010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Conserjes y supervisores reportan con foto, audio o texto.</a:t>
            </a:r>
            <a:endParaRPr lang="en-US" sz="2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0750" y="7230368"/>
            <a:ext cx="666750" cy="2857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82025" y="5493246"/>
            <a:ext cx="1123950" cy="1123950"/>
          </a:xfrm>
          <a:prstGeom prst="roundRect">
            <a:avLst>
              <a:gd name="adj" fmla="val 23729"/>
            </a:avLst>
          </a:prstGeom>
          <a:solidFill>
            <a:schemeClr val="bg1">
              <a:alpha val="8000"/>
            </a:scheme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8250" y="5769471"/>
            <a:ext cx="571500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75349" y="6788646"/>
            <a:ext cx="29373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ordena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7770495" y="7379196"/>
            <a:ext cx="274701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Clasifica, prioriza y redacta con inteligencia artificial.</a:t>
            </a:r>
            <a:endParaRPr lang="en-US" sz="2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500" y="7230368"/>
            <a:ext cx="666750" cy="285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4201775" y="5493246"/>
            <a:ext cx="1123950" cy="1123950"/>
          </a:xfrm>
          <a:prstGeom prst="roundRect">
            <a:avLst>
              <a:gd name="adj" fmla="val 23729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78000" y="5769471"/>
            <a:ext cx="571500" cy="571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60228" y="6788646"/>
            <a:ext cx="42070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comunidad recibe</a:t>
            </a:r>
            <a:endParaRPr lang="en-US" sz="3000" dirty="0"/>
          </a:p>
        </p:txBody>
      </p:sp>
      <p:sp>
        <p:nvSpPr>
          <p:cNvPr id="17" name="Text 10"/>
          <p:cNvSpPr/>
          <p:nvPr/>
        </p:nvSpPr>
        <p:spPr>
          <a:xfrm>
            <a:off x="13390245" y="7379196"/>
            <a:ext cx="274701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y vecinos ven información clara y a tiempo.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reporte de terreno al informe aprobado, en cuatro pasos.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262610"/>
            <a:ext cx="3848100" cy="6262390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3662660"/>
            <a:ext cx="542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E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9804" y="3653135"/>
            <a:ext cx="438150" cy="438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1125" y="4281785"/>
            <a:ext cx="34994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reporta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81125" y="4891385"/>
            <a:ext cx="3276791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 terreno registra la novedad con una foto, un audio o unas líneas de texto.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162550" y="3262610"/>
            <a:ext cx="3848100" cy="6262390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95925" y="3662660"/>
            <a:ext cx="542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E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4604" y="3653135"/>
            <a:ext cx="438150" cy="438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5925" y="4281785"/>
            <a:ext cx="34994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ordena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495925" y="4891385"/>
            <a:ext cx="3276791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clasifica, asigna prioridad y redacta un borrador profesional del informe.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277350" y="3262610"/>
            <a:ext cx="3848100" cy="6262390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10725" y="3662660"/>
            <a:ext cx="542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BE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404" y="3653135"/>
            <a:ext cx="438150" cy="438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10725" y="4281785"/>
            <a:ext cx="349948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admin aprueba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9610725" y="4891385"/>
            <a:ext cx="3276791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publica solo: el administrador revisa y da el visto bueno final.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13392150" y="3262610"/>
            <a:ext cx="3848100" cy="6262390"/>
          </a:xfrm>
          <a:prstGeom prst="roundRect">
            <a:avLst>
              <a:gd name="adj" fmla="val 6436"/>
            </a:avLst>
          </a:prstGeom>
          <a:solidFill>
            <a:srgbClr val="16293B"/>
          </a:solidFill>
          <a:ln/>
        </p:spPr>
      </p:sp>
      <p:sp>
        <p:nvSpPr>
          <p:cNvPr id="20" name="Text 15"/>
          <p:cNvSpPr/>
          <p:nvPr/>
        </p:nvSpPr>
        <p:spPr>
          <a:xfrm>
            <a:off x="13716000" y="3653135"/>
            <a:ext cx="542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2242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34679" y="3643610"/>
            <a:ext cx="438150" cy="4381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0" y="4272260"/>
            <a:ext cx="329641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comunidad recibe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13716000" y="5300960"/>
            <a:ext cx="3296412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informe o comunicado llega al comité y a los vecinos por el canal adecuado.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QUE REDACTA POR TI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2753975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audio de un minuto se convierte en un informe listo para enviar.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205460"/>
            <a:ext cx="6893421" cy="5706219"/>
          </a:xfrm>
          <a:prstGeom prst="roundRect">
            <a:avLst>
              <a:gd name="adj" fmla="val 4340"/>
            </a:avLst>
          </a:prstGeom>
          <a:solidFill>
            <a:srgbClr val="F5F1EA"/>
          </a:solidFill>
          <a:ln/>
        </p:spPr>
      </p:sp>
      <p:sp>
        <p:nvSpPr>
          <p:cNvPr id="5" name="Shape 3"/>
          <p:cNvSpPr/>
          <p:nvPr/>
        </p:nvSpPr>
        <p:spPr>
          <a:xfrm>
            <a:off x="1428750" y="477262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2425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3050" y="488692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1200" y="4829770"/>
            <a:ext cx="460461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168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DIJO EN TERRENO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28750" y="5401270"/>
            <a:ext cx="6315364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50" i="1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“Revisamos las bombas de Vista Sol. La uno normal. La dos con un ruido leve, no vimos fuga. Recomiendo pedir mantención preventiva.”</a:t>
            </a:r>
            <a:endParaRPr lang="en-US" sz="2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2171" y="5872758"/>
            <a:ext cx="723900" cy="323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427071" y="3205460"/>
            <a:ext cx="7813179" cy="5706219"/>
          </a:xfrm>
          <a:prstGeom prst="roundRect">
            <a:avLst>
              <a:gd name="adj" fmla="val 4340"/>
            </a:avLst>
          </a:prstGeom>
          <a:solidFill>
            <a:srgbClr val="16293B"/>
          </a:solidFill>
          <a:ln/>
          <a:effectLst>
            <a:outerShdw blurRad="571500" dist="228600" dir="5400000" algn="bl" rotWithShape="0">
              <a:srgbClr val="16293B">
                <a:alpha val="6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808071" y="448434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F8B1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12846" y="4589115"/>
            <a:ext cx="209550" cy="209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0521" y="4541490"/>
            <a:ext cx="53094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168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GENERADO POR KOMITE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808071" y="5074890"/>
            <a:ext cx="7262714" cy="2127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sistema de bombas · Vista Sol </a:t>
            </a:r>
            <a:r>
              <a:rPr lang="en-US" sz="195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realizó una revisión del sistema de bombas del condominio. La bomba N°1 opera con normalidad; la bomba N°2 presenta un ruido leve durante su funcionamiento. No se detectaron filtraciones visibles.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808071" y="7335589"/>
            <a:ext cx="775629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coordinar mantención preventiva.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047750" y="9294465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7" name="Text 12"/>
          <p:cNvSpPr/>
          <p:nvPr/>
        </p:nvSpPr>
        <p:spPr>
          <a:xfrm>
            <a:off x="1276350" y="9197429"/>
            <a:ext cx="105220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no inventa: solo ordena lo reportado, y el texto original siempre queda guardado.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CON EL COMITÉ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comité ve por sí mismo lo que se hizo, sin tener que llamar a nadie.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047750" y="4285208"/>
            <a:ext cx="745617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panel simple donde el comité entra y encuentra, al instante, el estado real de su condominio.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6305401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6142583"/>
            <a:ext cx="518252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abiertas y en proceso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" y="6916787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753969"/>
            <a:ext cx="56329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Mantenciones realizadas y próximas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7528173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365355"/>
            <a:ext cx="50243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mensuales disponibles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47750" y="8139559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976741"/>
            <a:ext cx="677600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consultable en cualquier momento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820150" y="3982045"/>
            <a:ext cx="6286500" cy="4728121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  <a:effectLst>
            <a:outerShdw blurRad="666750" dist="285750" dir="5400000" algn="bl" rotWithShape="0">
              <a:srgbClr val="16293B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525" y="4315420"/>
            <a:ext cx="31856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 Vista Sol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4277975" y="4401145"/>
            <a:ext cx="114300" cy="114300"/>
          </a:xfrm>
          <a:prstGeom prst="ellipse">
            <a:avLst/>
          </a:prstGeom>
          <a:solidFill>
            <a:srgbClr val="DFE6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68475" y="4401145"/>
            <a:ext cx="114300" cy="114300"/>
          </a:xfrm>
          <a:prstGeom prst="ellipse">
            <a:avLst/>
          </a:prstGeom>
          <a:solidFill>
            <a:srgbClr val="DFE6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658975" y="4401145"/>
            <a:ext cx="114300" cy="114300"/>
          </a:xfrm>
          <a:prstGeom prst="ellipse">
            <a:avLst/>
          </a:prstGeom>
          <a:solidFill>
            <a:srgbClr val="EF8B1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53525" y="4848820"/>
            <a:ext cx="2733675" cy="1222921"/>
          </a:xfrm>
          <a:prstGeom prst="roundRect">
            <a:avLst>
              <a:gd name="adj" fmla="val 12462"/>
            </a:avLst>
          </a:prstGeom>
          <a:solidFill>
            <a:srgbClr val="F5F1EA"/>
          </a:solidFill>
          <a:ln/>
        </p:spPr>
      </p:sp>
      <p:sp>
        <p:nvSpPr>
          <p:cNvPr id="19" name="Text 17"/>
          <p:cNvSpPr/>
          <p:nvPr/>
        </p:nvSpPr>
        <p:spPr>
          <a:xfrm>
            <a:off x="9363075" y="5058370"/>
            <a:ext cx="254603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9363075" y="5610820"/>
            <a:ext cx="254603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abiertas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039600" y="4848820"/>
            <a:ext cx="2733675" cy="1222921"/>
          </a:xfrm>
          <a:prstGeom prst="roundRect">
            <a:avLst>
              <a:gd name="adj" fmla="val 12462"/>
            </a:avLst>
          </a:prstGeom>
          <a:solidFill>
            <a:srgbClr val="EF8B1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249150" y="5058370"/>
            <a:ext cx="254603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2249150" y="5610820"/>
            <a:ext cx="254603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resueltas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53525" y="6262241"/>
            <a:ext cx="5619750" cy="628650"/>
          </a:xfrm>
          <a:prstGeom prst="roundRect">
            <a:avLst>
              <a:gd name="adj" fmla="val 21212"/>
            </a:avLst>
          </a:prstGeom>
          <a:solidFill>
            <a:srgbClr val="F5F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4975" y="6414641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16293B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175" y="6490841"/>
            <a:ext cx="171450" cy="17145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782175" y="6450806"/>
            <a:ext cx="4159076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Mantención de bombas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3696504" y="6433691"/>
            <a:ext cx="905321" cy="285750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29" name="Text 26"/>
          <p:cNvSpPr/>
          <p:nvPr/>
        </p:nvSpPr>
        <p:spPr>
          <a:xfrm>
            <a:off x="13810804" y="6490840"/>
            <a:ext cx="848171" cy="245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Resuelta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153525" y="7005191"/>
            <a:ext cx="5619750" cy="628650"/>
          </a:xfrm>
          <a:prstGeom prst="roundRect">
            <a:avLst>
              <a:gd name="adj" fmla="val 21212"/>
            </a:avLst>
          </a:prstGeom>
          <a:solidFill>
            <a:srgbClr val="F5F1EA"/>
          </a:solidFill>
          <a:ln/>
        </p:spPr>
      </p:sp>
      <p:sp>
        <p:nvSpPr>
          <p:cNvPr id="31" name="Shape 28"/>
          <p:cNvSpPr/>
          <p:nvPr/>
        </p:nvSpPr>
        <p:spPr>
          <a:xfrm>
            <a:off x="9324975" y="7157591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F8B1F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700" y="7243316"/>
            <a:ext cx="152400" cy="1524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782175" y="7193756"/>
            <a:ext cx="394936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Portón vehicular</a:t>
            </a:r>
            <a:endParaRPr lang="en-US" sz="1650" dirty="0"/>
          </a:p>
        </p:txBody>
      </p:sp>
      <p:sp>
        <p:nvSpPr>
          <p:cNvPr id="34" name="Shape 30"/>
          <p:cNvSpPr/>
          <p:nvPr/>
        </p:nvSpPr>
        <p:spPr>
          <a:xfrm>
            <a:off x="13505855" y="7176641"/>
            <a:ext cx="1095970" cy="285750"/>
          </a:xfrm>
          <a:prstGeom prst="roundRect">
            <a:avLst>
              <a:gd name="adj" fmla="val 50000"/>
            </a:avLst>
          </a:prstGeom>
          <a:solidFill>
            <a:srgbClr val="EF8B1F">
              <a:alpha val="14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13620155" y="7233791"/>
            <a:ext cx="10959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proceso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9153525" y="7748141"/>
            <a:ext cx="5619750" cy="628650"/>
          </a:xfrm>
          <a:prstGeom prst="roundRect">
            <a:avLst>
              <a:gd name="adj" fmla="val 21212"/>
            </a:avLst>
          </a:prstGeom>
          <a:solidFill>
            <a:srgbClr val="F5F1EA"/>
          </a:solidFill>
          <a:ln/>
        </p:spPr>
      </p:sp>
      <p:sp>
        <p:nvSpPr>
          <p:cNvPr id="37" name="Shape 33"/>
          <p:cNvSpPr/>
          <p:nvPr/>
        </p:nvSpPr>
        <p:spPr>
          <a:xfrm>
            <a:off x="9324975" y="7900541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22425D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0700" y="7986266"/>
            <a:ext cx="152400" cy="1524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782175" y="7936706"/>
            <a:ext cx="407509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mensual de junio</a:t>
            </a:r>
            <a:endParaRPr lang="en-US" sz="1650" dirty="0"/>
          </a:p>
        </p:txBody>
      </p:sp>
      <p:sp>
        <p:nvSpPr>
          <p:cNvPr id="40" name="Shape 35"/>
          <p:cNvSpPr/>
          <p:nvPr/>
        </p:nvSpPr>
        <p:spPr>
          <a:xfrm>
            <a:off x="13620155" y="7919591"/>
            <a:ext cx="981670" cy="285750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/>
        </p:spPr>
      </p:sp>
      <p:sp>
        <p:nvSpPr>
          <p:cNvPr id="41" name="Text 36"/>
          <p:cNvSpPr/>
          <p:nvPr/>
        </p:nvSpPr>
        <p:spPr>
          <a:xfrm>
            <a:off x="13734455" y="7976741"/>
            <a:ext cx="9245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EVIDENCIAS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2753975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queda registrada: quién, cuándo y con qué respaldo.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90625" y="4869359"/>
            <a:ext cx="28575" cy="3036094"/>
          </a:xfrm>
          <a:prstGeom prst="rect">
            <a:avLst/>
          </a:prstGeom>
          <a:solidFill>
            <a:srgbClr val="22425D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812209"/>
            <a:ext cx="304800" cy="304800"/>
          </a:xfrm>
          <a:prstGeom prst="ellipse">
            <a:avLst/>
          </a:prstGeom>
          <a:solidFill>
            <a:srgbClr val="EF8B1F"/>
          </a:solidFill>
          <a:ln w="47625">
            <a:solidFill>
              <a:srgbClr val="16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6850" y="4793159"/>
            <a:ext cx="9392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jun · 12:30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6850" y="5078909"/>
            <a:ext cx="8794724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cierra la tarea “Revisión de bombas” y adjunta 4 fotografías.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6263580"/>
            <a:ext cx="304800" cy="304800"/>
          </a:xfrm>
          <a:prstGeom prst="ellipse">
            <a:avLst/>
          </a:prstGeom>
          <a:solidFill>
            <a:srgbClr val="22425D"/>
          </a:solidFill>
          <a:ln w="47625">
            <a:solidFill>
              <a:srgbClr val="16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6850" y="6244530"/>
            <a:ext cx="9392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EA6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jun · 12:32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6530280"/>
            <a:ext cx="9392424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genera el informe preliminar automáticamente.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47750" y="7294066"/>
            <a:ext cx="304800" cy="304800"/>
          </a:xfrm>
          <a:prstGeom prst="ellipse">
            <a:avLst/>
          </a:prstGeom>
          <a:solidFill>
            <a:srgbClr val="22425D"/>
          </a:solidFill>
          <a:ln w="47625">
            <a:solidFill>
              <a:srgbClr val="16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6850" y="7275016"/>
            <a:ext cx="9392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EA6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jun · 13:10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7560766"/>
            <a:ext cx="9392424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aprueba y publica al comité.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672167" y="4517827"/>
            <a:ext cx="6568083" cy="1106686"/>
          </a:xfrm>
          <a:prstGeom prst="roundRect">
            <a:avLst>
              <a:gd name="adj" fmla="val 1721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19817" y="476637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8B1F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742" y="4928295"/>
            <a:ext cx="285750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38967" y="4765477"/>
            <a:ext cx="42908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738967" y="5079802"/>
            <a:ext cx="429086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visual del trabajo realizado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672167" y="5834063"/>
            <a:ext cx="6568083" cy="1106686"/>
          </a:xfrm>
          <a:prstGeom prst="roundRect">
            <a:avLst>
              <a:gd name="adj" fmla="val 1721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919817" y="608260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2425D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0792" y="6263580"/>
            <a:ext cx="247650" cy="2476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738967" y="6081713"/>
            <a:ext cx="42227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Audios</a:t>
            </a:r>
            <a:endParaRPr lang="en-US" sz="2250" dirty="0"/>
          </a:p>
        </p:txBody>
      </p:sp>
      <p:sp>
        <p:nvSpPr>
          <p:cNvPr id="23" name="Text 19"/>
          <p:cNvSpPr/>
          <p:nvPr/>
        </p:nvSpPr>
        <p:spPr>
          <a:xfrm>
            <a:off x="11738967" y="6396038"/>
            <a:ext cx="422276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relato original, siempre disponible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672167" y="7150298"/>
            <a:ext cx="6568083" cy="1106686"/>
          </a:xfrm>
          <a:prstGeom prst="roundRect">
            <a:avLst>
              <a:gd name="adj" fmla="val 1721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0919817" y="739884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7A53D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267" y="7570291"/>
            <a:ext cx="266700" cy="2667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738967" y="7397948"/>
            <a:ext cx="52130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2250" dirty="0"/>
          </a:p>
        </p:txBody>
      </p:sp>
      <p:sp>
        <p:nvSpPr>
          <p:cNvPr id="28" name="Text 23"/>
          <p:cNvSpPr/>
          <p:nvPr/>
        </p:nvSpPr>
        <p:spPr>
          <a:xfrm>
            <a:off x="11738967" y="7712273"/>
            <a:ext cx="521304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Buscable por fecha, categoría o responsable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REEMPLAZAR LO QUE YA USAS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2263438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 complementa a Edifito y a tu sistema contable, no los reemplaza.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300710"/>
            <a:ext cx="7296150" cy="6224290"/>
          </a:xfrm>
          <a:prstGeom prst="roundRect">
            <a:avLst>
              <a:gd name="adj" fmla="val 3979"/>
            </a:avLst>
          </a:prstGeom>
          <a:solidFill>
            <a:srgbClr val="F5F1E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5181302"/>
            <a:ext cx="7019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21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SISTEMA ADMINISTRATIVO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04950" y="5657552"/>
            <a:ext cx="657320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comunes · Contabilidad · Cobranza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4950" y="6705302"/>
            <a:ext cx="6573203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gestionando la parte financiera y administrativa, tal como hoy.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686800" y="5784205"/>
            <a:ext cx="914400" cy="914400"/>
          </a:xfrm>
          <a:prstGeom prst="ellipse">
            <a:avLst/>
          </a:prstGeom>
          <a:solidFill>
            <a:srgbClr val="16293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5400" y="6012805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0407" y="6831955"/>
            <a:ext cx="9033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conviven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944100" y="3300710"/>
            <a:ext cx="7296150" cy="6224290"/>
          </a:xfrm>
          <a:prstGeom prst="roundRect">
            <a:avLst>
              <a:gd name="adj" fmla="val 3979"/>
            </a:avLst>
          </a:prstGeom>
          <a:solidFill>
            <a:srgbClr val="16293B"/>
          </a:solidFill>
          <a:ln/>
          <a:effectLst>
            <a:outerShdw blurRad="666750" dist="285750" dir="5400000" algn="bl" rotWithShape="0">
              <a:srgbClr val="16293B">
                <a:alpha val="6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401300" y="4946452"/>
            <a:ext cx="7019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kern="0" spc="21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401300" y="5422702"/>
            <a:ext cx="657320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· Comunicación · Evidencia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401300" y="6470452"/>
            <a:ext cx="6573203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encarga del día a día en terreno, los informes y la transparencia con la comunidad.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PLATAFORMA, CADA ROL EN SU LUGAR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ve exactamente lo que le corresponde.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262610"/>
            <a:ext cx="5194250" cy="6262390"/>
          </a:xfrm>
          <a:prstGeom prst="roundRect">
            <a:avLst>
              <a:gd name="adj" fmla="val 476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9225" y="369123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F8B1F">
              <a:alpha val="12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8300" y="3910310"/>
            <a:ext cx="476250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9225" y="4815185"/>
            <a:ext cx="489643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1419225" y="5422850"/>
            <a:ext cx="489643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Conserjes y supervisores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9225" y="5979021"/>
            <a:ext cx="458483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Reportan rápido desde el celular o la tablet: foto, audio, checklist. Sin formularios largos.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546800" y="3262610"/>
            <a:ext cx="5194250" cy="6262390"/>
          </a:xfrm>
          <a:prstGeom prst="roundRect">
            <a:avLst>
              <a:gd name="adj" fmla="val 476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18275" y="369123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2425C">
              <a:alpha val="10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350" y="3910310"/>
            <a:ext cx="476250" cy="476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8275" y="4815185"/>
            <a:ext cx="489643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Administradora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918275" y="5422850"/>
            <a:ext cx="489643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de control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918275" y="5979021"/>
            <a:ext cx="458483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todos los condominios, aprueba informes, asigna tareas y controla los pendientes.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12045851" y="3262610"/>
            <a:ext cx="5194250" cy="6262390"/>
          </a:xfrm>
          <a:prstGeom prst="roundRect">
            <a:avLst>
              <a:gd name="adj" fmla="val 476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417326" y="3691235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F8B1F">
              <a:alpha val="12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17351" y="3891260"/>
            <a:ext cx="514350" cy="514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17326" y="4815185"/>
            <a:ext cx="489643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y vecinos</a:t>
            </a:r>
            <a:endParaRPr lang="en-US" sz="2850" dirty="0"/>
          </a:p>
        </p:txBody>
      </p:sp>
      <p:sp>
        <p:nvSpPr>
          <p:cNvPr id="20" name="Text 15"/>
          <p:cNvSpPr/>
          <p:nvPr/>
        </p:nvSpPr>
        <p:spPr>
          <a:xfrm>
            <a:off x="12417326" y="5422850"/>
            <a:ext cx="489643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comunidad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2417326" y="5979021"/>
            <a:ext cx="458483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Reciben solo la información aprobada: comunicados, informes y novedades del condominio.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GANA TU ADMINISTRADORA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trabajo manual, comités más conformes.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18641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F5F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3510260"/>
            <a:ext cx="438150" cy="438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0081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de horas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1600" y="4588371"/>
            <a:ext cx="47221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informes se redactan solos; tu equipo deja de escribir desde cero.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27750" y="318641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F5F1E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600" y="3510260"/>
            <a:ext cx="438150" cy="4381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1600" y="410081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ante reclamos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851600" y="4588371"/>
            <a:ext cx="47221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acción con fecha, responsable y evidencia. La prueba está siempre a mano.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2007751" y="318641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1629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31601" y="3510260"/>
            <a:ext cx="438150" cy="4381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31601" y="410081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Comités más conformes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2331601" y="4588371"/>
            <a:ext cx="472219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comunidad percibe orden y transparencia. Menos fricción en las reuniones.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047750" y="647953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F5F1E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6803380"/>
            <a:ext cx="438150" cy="438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739393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profesional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1371600" y="7881491"/>
            <a:ext cx="47221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y comunicados prolijos que elevan la percepción de tu servicio.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527750" y="647953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F5F1E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1600" y="6803380"/>
            <a:ext cx="438150" cy="4381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1600" y="739393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 de clientes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6851600" y="7881491"/>
            <a:ext cx="47221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comité que ve y confía renueva el contrato. Menos rotación de condominios.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2007751" y="6479530"/>
            <a:ext cx="5232350" cy="3045470"/>
          </a:xfrm>
          <a:prstGeom prst="roundRect">
            <a:avLst>
              <a:gd name="adj" fmla="val 8132"/>
            </a:avLst>
          </a:prstGeom>
          <a:solidFill>
            <a:srgbClr val="F5F1EA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31601" y="6803380"/>
            <a:ext cx="438150" cy="4381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31601" y="7393930"/>
            <a:ext cx="504311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centralizado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12331601" y="7881491"/>
            <a:ext cx="47221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Tareas, informes y comunicaciones en un solo lugar. Se acaba el caos del WhatsApp.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2263438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claros para gestionar tu equipo y demostrar resultados.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345061"/>
            <a:ext cx="3862387" cy="2282130"/>
          </a:xfrm>
          <a:prstGeom prst="roundRect">
            <a:avLst>
              <a:gd name="adj" fmla="val 1085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707011"/>
            <a:ext cx="357806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1352550" y="4621411"/>
            <a:ext cx="3578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en redactar informes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57788" y="3345061"/>
            <a:ext cx="3862387" cy="2282130"/>
          </a:xfrm>
          <a:prstGeom prst="roundRect">
            <a:avLst>
              <a:gd name="adj" fmla="val 1085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62588" y="3707011"/>
            <a:ext cx="357806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150" dirty="0"/>
          </a:p>
        </p:txBody>
      </p:sp>
      <p:sp>
        <p:nvSpPr>
          <p:cNvPr id="9" name="Text 7"/>
          <p:cNvSpPr/>
          <p:nvPr/>
        </p:nvSpPr>
        <p:spPr>
          <a:xfrm>
            <a:off x="5462588" y="4621411"/>
            <a:ext cx="335037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acciones con evidencia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67825" y="3345061"/>
            <a:ext cx="3862387" cy="2282130"/>
          </a:xfrm>
          <a:prstGeom prst="roundRect">
            <a:avLst>
              <a:gd name="adj" fmla="val 1085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72625" y="3707011"/>
            <a:ext cx="357806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150" dirty="0"/>
          </a:p>
        </p:txBody>
      </p:sp>
      <p:sp>
        <p:nvSpPr>
          <p:cNvPr id="12" name="Text 10"/>
          <p:cNvSpPr/>
          <p:nvPr/>
        </p:nvSpPr>
        <p:spPr>
          <a:xfrm>
            <a:off x="9572625" y="4621411"/>
            <a:ext cx="335037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para todos tus condominios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77863" y="3345061"/>
            <a:ext cx="3862387" cy="2282130"/>
          </a:xfrm>
          <a:prstGeom prst="roundRect">
            <a:avLst>
              <a:gd name="adj" fmla="val 10852"/>
            </a:avLst>
          </a:prstGeom>
          <a:solidFill>
            <a:srgbClr val="EF8B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682663" y="3707011"/>
            <a:ext cx="357806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b="1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6150" dirty="0"/>
          </a:p>
        </p:txBody>
      </p:sp>
      <p:sp>
        <p:nvSpPr>
          <p:cNvPr id="15" name="Text 13"/>
          <p:cNvSpPr/>
          <p:nvPr/>
        </p:nvSpPr>
        <p:spPr>
          <a:xfrm>
            <a:off x="13682663" y="4621411"/>
            <a:ext cx="3350371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del comité al estado real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1" y="6122491"/>
            <a:ext cx="3664284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76349" y="6274891"/>
            <a:ext cx="34356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DD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promedio de resolución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51053" y="6122491"/>
            <a:ext cx="2109192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79653" y="6274891"/>
            <a:ext cx="17281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DD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vencidas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12645" y="6122491"/>
            <a:ext cx="2986088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41245" y="6274891"/>
            <a:ext cx="2618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DD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Mantenciones realizadas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51132" y="6122491"/>
            <a:ext cx="3011537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479732" y="6274891"/>
            <a:ext cx="28314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DD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por categoría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808291"/>
            <a:ext cx="3900934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76349" y="6960691"/>
            <a:ext cx="36337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DD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Condominios con más pendientes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7684591"/>
            <a:ext cx="178117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7F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referenciales para ilustrar el impacto; se ajustan a la realidad de cada administradora.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273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PARTIMOS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177290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9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Empezamos simple y crecemos contigo.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3262610"/>
            <a:ext cx="5502473" cy="6262390"/>
          </a:xfrm>
          <a:prstGeom prst="roundRect">
            <a:avLst>
              <a:gd name="adj" fmla="val 4501"/>
            </a:avLst>
          </a:prstGeom>
          <a:solidFill>
            <a:srgbClr val="16293B"/>
          </a:solidFill>
          <a:ln/>
          <a:effectLst>
            <a:outerShdw blurRad="666750" dist="285750" dir="5400000" algn="bl" rotWithShape="0">
              <a:srgbClr val="16293B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6850" y="3681710"/>
            <a:ext cx="1679377" cy="361950"/>
          </a:xfrm>
          <a:prstGeom prst="roundRect">
            <a:avLst>
              <a:gd name="adj" fmla="val 50000"/>
            </a:avLst>
          </a:prstGeom>
          <a:solidFill>
            <a:srgbClr val="F7A53D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3757910"/>
            <a:ext cx="15269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Ahora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66850" y="4234160"/>
            <a:ext cx="51307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y comité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6850" y="4900910"/>
            <a:ext cx="2617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66739" y="4891385"/>
            <a:ext cx="4076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DF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para supervisores y conserjes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6850" y="5368528"/>
            <a:ext cx="2617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66739" y="5359003"/>
            <a:ext cx="40529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DF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con foto, audio y texto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66850" y="5836146"/>
            <a:ext cx="2617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66739" y="5826621"/>
            <a:ext cx="34242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DF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con IA y aprobación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66850" y="6303764"/>
            <a:ext cx="26178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7A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66739" y="6294239"/>
            <a:ext cx="23992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DF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para el comité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797873" y="3262610"/>
            <a:ext cx="5097363" cy="626239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6498" y="3595985"/>
            <a:ext cx="945505" cy="390525"/>
          </a:xfrm>
          <a:prstGeom prst="roundRect">
            <a:avLst>
              <a:gd name="adj" fmla="val 48780"/>
            </a:avLst>
          </a:prstGeom>
          <a:solidFill>
            <a:srgbClr val="E7E1D7"/>
          </a:solidFill>
          <a:ln/>
        </p:spPr>
      </p:sp>
      <p:sp>
        <p:nvSpPr>
          <p:cNvPr id="18" name="Text 16"/>
          <p:cNvSpPr/>
          <p:nvPr/>
        </p:nvSpPr>
        <p:spPr>
          <a:xfrm>
            <a:off x="7378898" y="3672185"/>
            <a:ext cx="7169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226498" y="4100810"/>
            <a:ext cx="46641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226498" y="4767560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588448" y="4758035"/>
            <a:ext cx="2959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y app para vecinos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226498" y="5235178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588448" y="5225653"/>
            <a:ext cx="36091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Comunicados y notificaciones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226498" y="5702796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588448" y="5693271"/>
            <a:ext cx="3881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y segmentación por torre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142887" y="3262610"/>
            <a:ext cx="5097363" cy="626239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9525">
            <a:solidFill>
              <a:srgbClr val="E7E1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1512" y="3595985"/>
            <a:ext cx="945505" cy="390525"/>
          </a:xfrm>
          <a:prstGeom prst="roundRect">
            <a:avLst>
              <a:gd name="adj" fmla="val 48780"/>
            </a:avLst>
          </a:prstGeom>
          <a:solidFill>
            <a:srgbClr val="E7E1D7"/>
          </a:solidFill>
          <a:ln/>
        </p:spPr>
      </p:sp>
      <p:sp>
        <p:nvSpPr>
          <p:cNvPr id="28" name="Text 26"/>
          <p:cNvSpPr/>
          <p:nvPr/>
        </p:nvSpPr>
        <p:spPr>
          <a:xfrm>
            <a:off x="12723912" y="3672185"/>
            <a:ext cx="7169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F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571512" y="4100810"/>
            <a:ext cx="46641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2571512" y="4767560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933462" y="4758035"/>
            <a:ext cx="25963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y Telegram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571512" y="5235178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933462" y="5225653"/>
            <a:ext cx="39722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mensuales automáticos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571512" y="5702796"/>
            <a:ext cx="3238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EF8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933462" y="5693271"/>
            <a:ext cx="3259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7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y comparativas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307" y="1325314"/>
            <a:ext cx="2427238" cy="1924050"/>
          </a:xfrm>
          <a:prstGeom prst="roundRect">
            <a:avLst>
              <a:gd name="adj" fmla="val 12871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8311307" y="1572964"/>
            <a:ext cx="1665238" cy="142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67013" y="3668464"/>
            <a:ext cx="12753975" cy="218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Mostrémosle a un comité, en un condominio piloto, lo que Komite puede hacer.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4238625" y="6084987"/>
            <a:ext cx="981075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0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una demostración y define un condominio para partir. En pocas semanas verás el primer informe automático aprobado.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871865" y="8180487"/>
            <a:ext cx="2712839" cy="781050"/>
          </a:xfrm>
          <a:prstGeom prst="roundRect">
            <a:avLst>
              <a:gd name="adj" fmla="val 19512"/>
            </a:avLst>
          </a:prstGeom>
          <a:solidFill>
            <a:srgbClr val="EF8B1F"/>
          </a:solidFill>
          <a:ln/>
        </p:spPr>
      </p:sp>
      <p:sp>
        <p:nvSpPr>
          <p:cNvPr id="7" name="Text 4"/>
          <p:cNvSpPr/>
          <p:nvPr/>
        </p:nvSpPr>
        <p:spPr>
          <a:xfrm>
            <a:off x="6250272" y="8409087"/>
            <a:ext cx="21596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demo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8794254" y="8180487"/>
            <a:ext cx="4123256" cy="781050"/>
          </a:xfrm>
          <a:prstGeom prst="roundRect">
            <a:avLst>
              <a:gd name="adj" fmla="val 19512"/>
            </a:avLst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32404" y="8513862"/>
            <a:ext cx="114300" cy="114300"/>
          </a:xfrm>
          <a:prstGeom prst="ellipse">
            <a:avLst/>
          </a:prstGeom>
          <a:solidFill>
            <a:srgbClr val="F7A53D"/>
          </a:solidFill>
          <a:ln/>
        </p:spPr>
      </p:sp>
      <p:sp>
        <p:nvSpPr>
          <p:cNvPr id="10" name="Text 7"/>
          <p:cNvSpPr/>
          <p:nvPr/>
        </p:nvSpPr>
        <p:spPr>
          <a:xfrm>
            <a:off x="9480054" y="8447724"/>
            <a:ext cx="272911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vallestelar@gmail.com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669353" y="9658350"/>
            <a:ext cx="49491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99" dirty="0">
                <a:solidFill>
                  <a:srgbClr val="5F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clara, comunidad transparente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1546</Words>
  <Application>Microsoft Office PowerPoint</Application>
  <PresentationFormat>Personalizado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Manuel Vergara Marquez</cp:lastModifiedBy>
  <cp:revision>9</cp:revision>
  <dcterms:created xsi:type="dcterms:W3CDTF">2026-07-01T08:04:17Z</dcterms:created>
  <dcterms:modified xsi:type="dcterms:W3CDTF">2026-07-01T08:19:34Z</dcterms:modified>
</cp:coreProperties>
</file>